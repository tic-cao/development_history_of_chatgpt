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media/image11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</p:sldIdLst>
  <p:sldSz cx="9144000" cy="5143500"/>
  <p:notesSz cx="5143500" cy="9144000"/>
  <p:embeddedFontLst>
    <p:embeddedFont>
      <p:font typeface="WenYuan Sans SC" panose="020B0200000000000000" pitchFamily="34" charset="-122"/>
      <p:regular r:id="rId29"/>
      <p:bold r:id="rId30"/>
    </p:embeddedFont>
    <p:embeddedFont>
      <p:font typeface="WenYuan Sans SC" panose="020B0200000000000000" pitchFamily="34" charset="-120"/>
      <p:regular r:id="rId31"/>
      <p:bold r:id="rId32"/>
    </p:embeddedFont>
    <p:embeddedFont>
      <p:font typeface="Calibri" panose="020F0502020204030204" charset="0"/>
      <p:regular r:id="rId33"/>
      <p:bold r:id="rId34"/>
      <p:italic r:id="rId35"/>
      <p:boldItalic r:id="rId3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6" Type="http://schemas.openxmlformats.org/officeDocument/2006/relationships/font" Target="fonts/font8.fntdata"/><Relationship Id="rId35" Type="http://schemas.openxmlformats.org/officeDocument/2006/relationships/font" Target="fonts/font7.fntdata"/><Relationship Id="rId34" Type="http://schemas.openxmlformats.org/officeDocument/2006/relationships/font" Target="fonts/font6.fntdata"/><Relationship Id="rId33" Type="http://schemas.openxmlformats.org/officeDocument/2006/relationships/font" Target="fonts/font5.fntdata"/><Relationship Id="rId32" Type="http://schemas.openxmlformats.org/officeDocument/2006/relationships/font" Target="fonts/font4.fntdata"/><Relationship Id="rId31" Type="http://schemas.openxmlformats.org/officeDocument/2006/relationships/font" Target="fonts/font3.fntdata"/><Relationship Id="rId30" Type="http://schemas.openxmlformats.org/officeDocument/2006/relationships/font" Target="fonts/font2.fntdata"/><Relationship Id="rId3" Type="http://schemas.openxmlformats.org/officeDocument/2006/relationships/slide" Target="slides/slide1.xml"/><Relationship Id="rId29" Type="http://schemas.openxmlformats.org/officeDocument/2006/relationships/font" Target="fonts/font1.fntdata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sv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sv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sv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sv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sv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sv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.sv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3.svg"/><Relationship Id="rId1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5.svg"/><Relationship Id="rId1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0.svg"/><Relationship Id="rId1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2.svg"/><Relationship Id="rId1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4.svg"/><Relationship Id="rId1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6.svg"/><Relationship Id="rId1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8.svg"/><Relationship Id="rId1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0.svg"/><Relationship Id="rId1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2.svg"/><Relationship Id="rId1" Type="http://schemas.openxmlformats.org/officeDocument/2006/relationships/image" Target="../media/image31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4.svg"/><Relationship Id="rId1" Type="http://schemas.openxmlformats.org/officeDocument/2006/relationships/image" Target="../media/image33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6.svg"/><Relationship Id="rId1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14313" y="317897"/>
            <a:ext cx="228600" cy="21431"/>
          </a:xfrm>
          <a:prstGeom prst="rect">
            <a:avLst/>
          </a:prstGeom>
          <a:solidFill>
            <a:srgbClr val="D33941"/>
          </a:solidFill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14313" y="951235"/>
            <a:ext cx="42863" cy="400050"/>
          </a:xfrm>
          <a:prstGeom prst="rect">
            <a:avLst/>
          </a:prstGeom>
          <a:solidFill>
            <a:srgbClr val="D33941"/>
          </a:solidFill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215485" y="3163453"/>
            <a:ext cx="2807494" cy="1028700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168197" y="3163453"/>
            <a:ext cx="2807494" cy="1028700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120910" y="3163453"/>
            <a:ext cx="2807494" cy="1028700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27745" y="257175"/>
            <a:ext cx="1074277" cy="142875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730" b="1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GPT 系列技术演进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8388214" y="267891"/>
            <a:ext cx="559213" cy="121444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620" dirty="0">
                <a:solidFill>
                  <a:srgbClr val="898989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AI 技术观察</a:t>
            </a:r>
            <a:endParaRPr lang="en-US" sz="620" dirty="0"/>
          </a:p>
        </p:txBody>
      </p:sp>
      <p:sp>
        <p:nvSpPr>
          <p:cNvPr id="10" name="Text 8"/>
          <p:cNvSpPr/>
          <p:nvPr/>
        </p:nvSpPr>
        <p:spPr>
          <a:xfrm>
            <a:off x="371475" y="979810"/>
            <a:ext cx="1133142" cy="164306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845" b="1" dirty="0">
                <a:solidFill>
                  <a:srgbClr val="D33941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技术演进专题</a:t>
            </a:r>
            <a:endParaRPr lang="en-US" sz="845" dirty="0"/>
          </a:p>
        </p:txBody>
      </p:sp>
      <p:sp>
        <p:nvSpPr>
          <p:cNvPr id="11" name="Text 9"/>
          <p:cNvSpPr/>
          <p:nvPr/>
        </p:nvSpPr>
        <p:spPr>
          <a:xfrm>
            <a:off x="371475" y="1170905"/>
            <a:ext cx="1133142" cy="150019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790" dirty="0">
                <a:solidFill>
                  <a:srgbClr val="898989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面向技术团队的代际回顾</a:t>
            </a:r>
            <a:endParaRPr lang="en-US" sz="790" dirty="0"/>
          </a:p>
        </p:txBody>
      </p:sp>
      <p:sp>
        <p:nvSpPr>
          <p:cNvPr id="12" name="Text 10"/>
          <p:cNvSpPr/>
          <p:nvPr/>
        </p:nvSpPr>
        <p:spPr>
          <a:xfrm>
            <a:off x="214313" y="1495555"/>
            <a:ext cx="8976836" cy="614363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00000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ChatGPT 发展历程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214313" y="2224497"/>
            <a:ext cx="9238298" cy="407194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365" b="1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从 GPT-1 到 GPT-5 的代际跃迁，</a:t>
            </a:r>
            <a:r>
              <a:rPr lang="en-US" sz="2365" b="1" dirty="0">
                <a:solidFill>
                  <a:srgbClr val="D33941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八年六次能力跨越</a:t>
            </a:r>
            <a:endParaRPr lang="en-US" sz="2365" dirty="0"/>
          </a:p>
        </p:txBody>
      </p:sp>
      <p:sp>
        <p:nvSpPr>
          <p:cNvPr id="14" name="Text 12"/>
          <p:cNvSpPr/>
          <p:nvPr/>
        </p:nvSpPr>
        <p:spPr>
          <a:xfrm>
            <a:off x="214313" y="2743423"/>
            <a:ext cx="9238298" cy="221456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015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数据来源：</a:t>
            </a:r>
            <a:r>
              <a:rPr lang="en-US" sz="1015" b="1" dirty="0">
                <a:solidFill>
                  <a:srgbClr val="000000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OpenAI 官方</a:t>
            </a:r>
            <a:r>
              <a:rPr lang="en-US" sz="1015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、</a:t>
            </a:r>
            <a:r>
              <a:rPr lang="en-US" sz="1015" b="1" dirty="0">
                <a:solidFill>
                  <a:srgbClr val="000000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西藏网信办</a:t>
            </a:r>
            <a:r>
              <a:rPr lang="en-US" sz="1015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、</a:t>
            </a:r>
            <a:r>
              <a:rPr lang="en-US" sz="1015" b="1" dirty="0">
                <a:solidFill>
                  <a:srgbClr val="000000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腾讯云 GPT 演进史</a:t>
            </a:r>
            <a:r>
              <a:rPr lang="en-US" sz="1015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等公开资料</a:t>
            </a:r>
            <a:endParaRPr lang="en-US" sz="1015" dirty="0"/>
          </a:p>
        </p:txBody>
      </p:sp>
      <p:sp>
        <p:nvSpPr>
          <p:cNvPr id="15" name="Text 13"/>
          <p:cNvSpPr/>
          <p:nvPr/>
        </p:nvSpPr>
        <p:spPr>
          <a:xfrm>
            <a:off x="363215" y="3284897"/>
            <a:ext cx="625435" cy="342900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D33941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1.17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1026468" y="3406341"/>
            <a:ext cx="529781" cy="257175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D33941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亿参数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65503" y="3720666"/>
            <a:ext cx="2582680" cy="171450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GPT-1 参数规模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5503" y="3920691"/>
            <a:ext cx="2582680" cy="150019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790" dirty="0">
                <a:solidFill>
                  <a:srgbClr val="898989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2018 年 6 月发布，预训练加微调起点</a:t>
            </a:r>
            <a:endParaRPr lang="en-US" sz="790" dirty="0"/>
          </a:p>
        </p:txBody>
      </p:sp>
      <p:sp>
        <p:nvSpPr>
          <p:cNvPr id="19" name="Text 17"/>
          <p:cNvSpPr/>
          <p:nvPr/>
        </p:nvSpPr>
        <p:spPr>
          <a:xfrm>
            <a:off x="3317379" y="3284897"/>
            <a:ext cx="787313" cy="342900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D33941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1750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4139245" y="3406341"/>
            <a:ext cx="529781" cy="257175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D33941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亿参数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3318216" y="3720666"/>
            <a:ext cx="2582680" cy="171450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GPT-3 参数规模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18216" y="3920691"/>
            <a:ext cx="2582680" cy="150019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790" dirty="0">
                <a:solidFill>
                  <a:srgbClr val="898989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2020 年 5 月发布，上下文学习涌现</a:t>
            </a:r>
            <a:endParaRPr lang="en-US" sz="790" dirty="0"/>
          </a:p>
        </p:txBody>
      </p:sp>
      <p:sp>
        <p:nvSpPr>
          <p:cNvPr id="23" name="Text 21"/>
          <p:cNvSpPr/>
          <p:nvPr/>
        </p:nvSpPr>
        <p:spPr>
          <a:xfrm>
            <a:off x="6269143" y="3284897"/>
            <a:ext cx="367903" cy="342900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D33941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12</a:t>
            </a:r>
            <a:endParaRPr lang="en-US" sz="2700" dirty="0"/>
          </a:p>
        </p:txBody>
      </p:sp>
      <p:sp>
        <p:nvSpPr>
          <p:cNvPr id="24" name="Text 22"/>
          <p:cNvSpPr/>
          <p:nvPr/>
        </p:nvSpPr>
        <p:spPr>
          <a:xfrm>
            <a:off x="6682867" y="3406341"/>
            <a:ext cx="529781" cy="257175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D33941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亿周活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270929" y="3720666"/>
            <a:ext cx="2582680" cy="171450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ChatGPT 周活跃用户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270929" y="3920691"/>
            <a:ext cx="2582680" cy="150019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790" dirty="0">
                <a:solidFill>
                  <a:srgbClr val="898989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2026 年 9 月，两个月破亿后持续增长</a:t>
            </a:r>
            <a:endParaRPr lang="en-US" sz="790" dirty="0"/>
          </a:p>
        </p:txBody>
      </p:sp>
      <p:sp>
        <p:nvSpPr>
          <p:cNvPr id="27" name="Text 25"/>
          <p:cNvSpPr/>
          <p:nvPr/>
        </p:nvSpPr>
        <p:spPr>
          <a:xfrm>
            <a:off x="214313" y="4743450"/>
            <a:ext cx="573929" cy="142875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898989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技术演进研究</a:t>
            </a:r>
            <a:endParaRPr lang="en-US" sz="730" dirty="0"/>
          </a:p>
        </p:txBody>
      </p:sp>
      <p:sp>
        <p:nvSpPr>
          <p:cNvPr id="28" name="Text 26"/>
          <p:cNvSpPr/>
          <p:nvPr/>
        </p:nvSpPr>
        <p:spPr>
          <a:xfrm>
            <a:off x="1000516" y="4743450"/>
            <a:ext cx="566571" cy="142875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898989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2026 年 10 月</a:t>
            </a:r>
            <a:endParaRPr lang="en-US" sz="730" dirty="0"/>
          </a:p>
        </p:txBody>
      </p:sp>
      <p:sp>
        <p:nvSpPr>
          <p:cNvPr id="65535" name="wm:hwcld:2026-10-23T02:30:37:30c7c9cf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</p:spPr>
      </p:sp>
      <p:sp>
        <p:nvSpPr>
          <p:cNvPr id="3" name="Shape 1"/>
          <p:cNvSpPr/>
          <p:nvPr/>
        </p:nvSpPr>
        <p:spPr>
          <a:xfrm>
            <a:off x="214313" y="772864"/>
            <a:ext cx="8715375" cy="392906"/>
          </a:xfrm>
          <a:prstGeom prst="rect">
            <a:avLst/>
          </a:prstGeom>
          <a:solidFill>
            <a:srgbClr val="FFF1EF"/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4313" y="772864"/>
            <a:ext cx="8715375" cy="39290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14313" y="1279624"/>
            <a:ext cx="2093119" cy="800100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421731" y="1279624"/>
            <a:ext cx="2093119" cy="800100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629150" y="1279624"/>
            <a:ext cx="2093119" cy="800100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836569" y="1279624"/>
            <a:ext cx="2093119" cy="800100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14313" y="2194024"/>
            <a:ext cx="2828925" cy="442912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157538" y="2194024"/>
            <a:ext cx="2828925" cy="442912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100763" y="2194024"/>
            <a:ext cx="2828925" cy="442912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14313" y="2750790"/>
            <a:ext cx="1357313" cy="1821656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685925" y="2750790"/>
            <a:ext cx="1357313" cy="1821656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157538" y="2750790"/>
            <a:ext cx="1357313" cy="1821656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629150" y="2750790"/>
            <a:ext cx="1357313" cy="1821656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100763" y="2750790"/>
            <a:ext cx="1357313" cy="1821656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572375" y="2750790"/>
            <a:ext cx="1357313" cy="1821656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14313" y="329505"/>
            <a:ext cx="8976836" cy="328613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2080" dirty="0">
                <a:solidFill>
                  <a:srgbClr val="000000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全景时间线：从单任务模型到通用智能体的代际跃迁</a:t>
            </a:r>
            <a:endParaRPr lang="en-US" sz="2080" dirty="0"/>
          </a:p>
        </p:txBody>
      </p:sp>
      <p:sp>
        <p:nvSpPr>
          <p:cNvPr id="19" name="Text 16"/>
          <p:cNvSpPr/>
          <p:nvPr/>
        </p:nvSpPr>
        <p:spPr>
          <a:xfrm>
            <a:off x="400050" y="858589"/>
            <a:ext cx="8638365" cy="221456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070" b="1" dirty="0">
                <a:solidFill>
                  <a:srgbClr val="000000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GPT 系列在八年间完成六次代际跃迁，参数从 1.17 亿级升至千亿级，形态从文本续写扩展到全模态与思维链。</a:t>
            </a:r>
            <a:endParaRPr lang="en-US" sz="1070" dirty="0"/>
          </a:p>
        </p:txBody>
      </p:sp>
      <p:sp>
        <p:nvSpPr>
          <p:cNvPr id="20" name="Text 17"/>
          <p:cNvSpPr/>
          <p:nvPr/>
        </p:nvSpPr>
        <p:spPr>
          <a:xfrm>
            <a:off x="334640" y="1372493"/>
            <a:ext cx="625435" cy="42862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D33941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1.17</a:t>
            </a:r>
            <a:endParaRPr lang="en-US" sz="2700" dirty="0"/>
          </a:p>
        </p:txBody>
      </p:sp>
      <p:sp>
        <p:nvSpPr>
          <p:cNvPr id="21" name="Text 18"/>
          <p:cNvSpPr/>
          <p:nvPr/>
        </p:nvSpPr>
        <p:spPr>
          <a:xfrm>
            <a:off x="969318" y="1658243"/>
            <a:ext cx="353187" cy="14287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898989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亿参数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335756" y="1829693"/>
            <a:ext cx="1905738" cy="157163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GPT-1 参数量（2018）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2542561" y="1372493"/>
            <a:ext cx="367903" cy="42862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D33941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15</a:t>
            </a:r>
            <a:endParaRPr lang="en-US" sz="2700" dirty="0"/>
          </a:p>
        </p:txBody>
      </p:sp>
      <p:sp>
        <p:nvSpPr>
          <p:cNvPr id="24" name="Text 21"/>
          <p:cNvSpPr/>
          <p:nvPr/>
        </p:nvSpPr>
        <p:spPr>
          <a:xfrm>
            <a:off x="2927710" y="1658243"/>
            <a:ext cx="353187" cy="14287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898989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亿参数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2543175" y="1829693"/>
            <a:ext cx="1905738" cy="157163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GPT-2 参数量（2019）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4750929" y="1372493"/>
            <a:ext cx="787313" cy="42862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D33941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1750</a:t>
            </a:r>
            <a:endParaRPr lang="en-US" sz="2700" dirty="0"/>
          </a:p>
        </p:txBody>
      </p:sp>
      <p:sp>
        <p:nvSpPr>
          <p:cNvPr id="27" name="Text 24"/>
          <p:cNvSpPr/>
          <p:nvPr/>
        </p:nvSpPr>
        <p:spPr>
          <a:xfrm>
            <a:off x="5544220" y="1658243"/>
            <a:ext cx="353187" cy="14287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898989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亿参数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4750594" y="1829693"/>
            <a:ext cx="1905738" cy="157163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GPT-3 参数量（2020）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6958850" y="1372493"/>
            <a:ext cx="206026" cy="42862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D33941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2</a:t>
            </a:r>
            <a:endParaRPr lang="en-US" sz="2700" dirty="0"/>
          </a:p>
        </p:txBody>
      </p:sp>
      <p:sp>
        <p:nvSpPr>
          <p:cNvPr id="30" name="Text 27"/>
          <p:cNvSpPr/>
          <p:nvPr/>
        </p:nvSpPr>
        <p:spPr>
          <a:xfrm>
            <a:off x="7188287" y="1658243"/>
            <a:ext cx="235458" cy="14287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898989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个月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6958013" y="1829693"/>
            <a:ext cx="1905738" cy="157163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ChatGPT 月活破亿耗时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336035" y="2311896"/>
            <a:ext cx="596003" cy="207169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070" b="1" dirty="0">
                <a:solidFill>
                  <a:srgbClr val="000000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ChatGPT</a:t>
            </a:r>
            <a:endParaRPr lang="en-US" sz="1070" dirty="0"/>
          </a:p>
        </p:txBody>
      </p:sp>
      <p:sp>
        <p:nvSpPr>
          <p:cNvPr id="33" name="Text 30"/>
          <p:cNvSpPr/>
          <p:nvPr/>
        </p:nvSpPr>
        <p:spPr>
          <a:xfrm>
            <a:off x="971829" y="2258318"/>
            <a:ext cx="2047756" cy="314325"/>
          </a:xfrm>
          <a:prstGeom prst="rect">
            <a:avLst/>
          </a:prstGeom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上线 5 天破 100 万用户、2 个月月活破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 1 亿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3280656" y="2311896"/>
            <a:ext cx="397335" cy="207169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070" b="1" dirty="0">
                <a:solidFill>
                  <a:srgbClr val="000000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GPT-3</a:t>
            </a:r>
            <a:endParaRPr lang="en-US" sz="1070" dirty="0"/>
          </a:p>
        </p:txBody>
      </p:sp>
      <p:sp>
        <p:nvSpPr>
          <p:cNvPr id="35" name="Text 32"/>
          <p:cNvSpPr/>
          <p:nvPr/>
        </p:nvSpPr>
        <p:spPr>
          <a:xfrm>
            <a:off x="3723568" y="2258318"/>
            <a:ext cx="2250281" cy="314325"/>
          </a:xfrm>
          <a:prstGeom prst="rect">
            <a:avLst/>
          </a:prstGeom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1750 亿参数配 300B token，催生少样本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能力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6222095" y="2311896"/>
            <a:ext cx="492990" cy="207169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070" b="1" dirty="0">
                <a:solidFill>
                  <a:srgbClr val="000000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GPT-4o</a:t>
            </a:r>
            <a:endParaRPr lang="en-US" sz="1070" dirty="0"/>
          </a:p>
        </p:txBody>
      </p:sp>
      <p:sp>
        <p:nvSpPr>
          <p:cNvPr id="37" name="Text 34"/>
          <p:cNvSpPr/>
          <p:nvPr/>
        </p:nvSpPr>
        <p:spPr>
          <a:xfrm>
            <a:off x="6757764" y="2336899"/>
            <a:ext cx="1648206" cy="157163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打通文本、图像、音频统一处理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307181" y="2872680"/>
            <a:ext cx="1206722" cy="171450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33941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2018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307181" y="3070920"/>
            <a:ext cx="1206722" cy="228600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180" b="1" dirty="0">
                <a:solidFill>
                  <a:srgbClr val="000000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GPT-1</a:t>
            </a:r>
            <a:endParaRPr lang="en-US" sz="1180" dirty="0"/>
          </a:p>
        </p:txBody>
      </p:sp>
      <p:sp>
        <p:nvSpPr>
          <p:cNvPr id="40" name="Text 37"/>
          <p:cNvSpPr/>
          <p:nvPr/>
        </p:nvSpPr>
        <p:spPr>
          <a:xfrm>
            <a:off x="307181" y="3559820"/>
            <a:ext cx="1206722" cy="157163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参数：1.17 亿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307181" y="3716982"/>
            <a:ext cx="1206722" cy="157163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数据：约 5GB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307181" y="4136231"/>
            <a:ext cx="1206722" cy="157163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能力：预训练微调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307181" y="4293394"/>
            <a:ext cx="1206722" cy="157163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形态：文本微调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1778794" y="2872680"/>
            <a:ext cx="1206722" cy="171450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33941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2019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1778794" y="3070920"/>
            <a:ext cx="1206722" cy="228600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180" b="1" dirty="0">
                <a:solidFill>
                  <a:srgbClr val="000000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GPT-2</a:t>
            </a:r>
            <a:endParaRPr lang="en-US" sz="1180" dirty="0"/>
          </a:p>
        </p:txBody>
      </p:sp>
      <p:sp>
        <p:nvSpPr>
          <p:cNvPr id="46" name="Text 43"/>
          <p:cNvSpPr/>
          <p:nvPr/>
        </p:nvSpPr>
        <p:spPr>
          <a:xfrm>
            <a:off x="1778794" y="3559820"/>
            <a:ext cx="1206722" cy="157163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参数：15 亿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1778794" y="3716982"/>
            <a:ext cx="1206722" cy="157163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数据：40GB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1778794" y="4136231"/>
            <a:ext cx="1206722" cy="157163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能力：零样本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1778794" y="4293394"/>
            <a:ext cx="1206722" cy="157163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形态：文本生成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3250406" y="2872680"/>
            <a:ext cx="1206722" cy="171450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33941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2020</a:t>
            </a:r>
            <a:endParaRPr lang="en-US" sz="900" dirty="0"/>
          </a:p>
        </p:txBody>
      </p:sp>
      <p:sp>
        <p:nvSpPr>
          <p:cNvPr id="51" name="Text 48"/>
          <p:cNvSpPr/>
          <p:nvPr/>
        </p:nvSpPr>
        <p:spPr>
          <a:xfrm>
            <a:off x="3250406" y="3070920"/>
            <a:ext cx="1206722" cy="228600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180" b="1" dirty="0">
                <a:solidFill>
                  <a:srgbClr val="000000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GPT-3</a:t>
            </a:r>
            <a:endParaRPr lang="en-US" sz="1180" dirty="0"/>
          </a:p>
        </p:txBody>
      </p:sp>
      <p:sp>
        <p:nvSpPr>
          <p:cNvPr id="52" name="Text 49"/>
          <p:cNvSpPr/>
          <p:nvPr/>
        </p:nvSpPr>
        <p:spPr>
          <a:xfrm>
            <a:off x="3250406" y="3559820"/>
            <a:ext cx="1206722" cy="157163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参数：1750 亿</a:t>
            </a:r>
            <a:endParaRPr lang="en-US" sz="900" dirty="0"/>
          </a:p>
        </p:txBody>
      </p:sp>
      <p:sp>
        <p:nvSpPr>
          <p:cNvPr id="53" name="Text 50"/>
          <p:cNvSpPr/>
          <p:nvPr/>
        </p:nvSpPr>
        <p:spPr>
          <a:xfrm>
            <a:off x="3250406" y="3716982"/>
            <a:ext cx="1206722" cy="157163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数据：300B token</a:t>
            </a:r>
            <a:endParaRPr lang="en-US" sz="900" dirty="0"/>
          </a:p>
        </p:txBody>
      </p:sp>
      <p:sp>
        <p:nvSpPr>
          <p:cNvPr id="54" name="Text 51"/>
          <p:cNvSpPr/>
          <p:nvPr/>
        </p:nvSpPr>
        <p:spPr>
          <a:xfrm>
            <a:off x="3250406" y="4136231"/>
            <a:ext cx="1206722" cy="157163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能力：上下文学习</a:t>
            </a:r>
            <a:endParaRPr lang="en-US" sz="900" dirty="0"/>
          </a:p>
        </p:txBody>
      </p:sp>
      <p:sp>
        <p:nvSpPr>
          <p:cNvPr id="55" name="Text 52"/>
          <p:cNvSpPr/>
          <p:nvPr/>
        </p:nvSpPr>
        <p:spPr>
          <a:xfrm>
            <a:off x="3250406" y="4293394"/>
            <a:ext cx="1206722" cy="157163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形态：提示调用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4722019" y="2872680"/>
            <a:ext cx="1206722" cy="171450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33941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2022-11</a:t>
            </a:r>
            <a:endParaRPr lang="en-US" sz="900" dirty="0"/>
          </a:p>
        </p:txBody>
      </p:sp>
      <p:sp>
        <p:nvSpPr>
          <p:cNvPr id="57" name="Text 54"/>
          <p:cNvSpPr/>
          <p:nvPr/>
        </p:nvSpPr>
        <p:spPr>
          <a:xfrm>
            <a:off x="4722019" y="3070920"/>
            <a:ext cx="1206722" cy="228600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180" b="1" dirty="0">
                <a:solidFill>
                  <a:srgbClr val="000000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ChatGPT</a:t>
            </a:r>
            <a:endParaRPr lang="en-US" sz="1180" dirty="0"/>
          </a:p>
        </p:txBody>
      </p:sp>
      <p:sp>
        <p:nvSpPr>
          <p:cNvPr id="58" name="Text 55"/>
          <p:cNvSpPr/>
          <p:nvPr/>
        </p:nvSpPr>
        <p:spPr>
          <a:xfrm>
            <a:off x="4722019" y="3559820"/>
            <a:ext cx="1206722" cy="157163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参数：未披露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4722019" y="3716982"/>
            <a:ext cx="1206722" cy="157163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数据：未披露</a:t>
            </a:r>
            <a:endParaRPr lang="en-US" sz="900" dirty="0"/>
          </a:p>
        </p:txBody>
      </p:sp>
      <p:sp>
        <p:nvSpPr>
          <p:cNvPr id="60" name="Text 57"/>
          <p:cNvSpPr/>
          <p:nvPr/>
        </p:nvSpPr>
        <p:spPr>
          <a:xfrm>
            <a:off x="4722019" y="4136231"/>
            <a:ext cx="1206722" cy="157163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能力：对话对齐</a:t>
            </a:r>
            <a:endParaRPr lang="en-US" sz="900" dirty="0"/>
          </a:p>
        </p:txBody>
      </p:sp>
      <p:sp>
        <p:nvSpPr>
          <p:cNvPr id="61" name="Text 58"/>
          <p:cNvSpPr/>
          <p:nvPr/>
        </p:nvSpPr>
        <p:spPr>
          <a:xfrm>
            <a:off x="4722019" y="4293394"/>
            <a:ext cx="1206722" cy="157163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形态：日常对话</a:t>
            </a:r>
            <a:endParaRPr lang="en-US" sz="900" dirty="0"/>
          </a:p>
        </p:txBody>
      </p:sp>
      <p:sp>
        <p:nvSpPr>
          <p:cNvPr id="62" name="Text 59"/>
          <p:cNvSpPr/>
          <p:nvPr/>
        </p:nvSpPr>
        <p:spPr>
          <a:xfrm>
            <a:off x="6193631" y="2872680"/>
            <a:ext cx="1206722" cy="171450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33941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2023-03</a:t>
            </a:r>
            <a:endParaRPr lang="en-US" sz="900" dirty="0"/>
          </a:p>
        </p:txBody>
      </p:sp>
      <p:sp>
        <p:nvSpPr>
          <p:cNvPr id="63" name="Text 60"/>
          <p:cNvSpPr/>
          <p:nvPr/>
        </p:nvSpPr>
        <p:spPr>
          <a:xfrm>
            <a:off x="6193631" y="3070920"/>
            <a:ext cx="1206722" cy="228600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180" b="1" dirty="0">
                <a:solidFill>
                  <a:srgbClr val="000000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GPT-4</a:t>
            </a:r>
            <a:endParaRPr lang="en-US" sz="1180" dirty="0"/>
          </a:p>
        </p:txBody>
      </p:sp>
      <p:sp>
        <p:nvSpPr>
          <p:cNvPr id="64" name="Text 61"/>
          <p:cNvSpPr/>
          <p:nvPr/>
        </p:nvSpPr>
        <p:spPr>
          <a:xfrm>
            <a:off x="6193631" y="3559820"/>
            <a:ext cx="1206722" cy="157163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参数：未披露</a:t>
            </a:r>
            <a:endParaRPr lang="en-US" sz="900" dirty="0"/>
          </a:p>
        </p:txBody>
      </p:sp>
      <p:sp>
        <p:nvSpPr>
          <p:cNvPr id="65" name="Text 62"/>
          <p:cNvSpPr/>
          <p:nvPr/>
        </p:nvSpPr>
        <p:spPr>
          <a:xfrm>
            <a:off x="6193631" y="3716982"/>
            <a:ext cx="1206722" cy="157163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数据：未披露</a:t>
            </a:r>
            <a:endParaRPr lang="en-US" sz="900" dirty="0"/>
          </a:p>
        </p:txBody>
      </p:sp>
      <p:sp>
        <p:nvSpPr>
          <p:cNvPr id="66" name="Text 63"/>
          <p:cNvSpPr/>
          <p:nvPr/>
        </p:nvSpPr>
        <p:spPr>
          <a:xfrm>
            <a:off x="6193631" y="4136231"/>
            <a:ext cx="1206722" cy="157163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能力：多模态输入</a:t>
            </a:r>
            <a:endParaRPr lang="en-US" sz="900" dirty="0"/>
          </a:p>
        </p:txBody>
      </p:sp>
      <p:sp>
        <p:nvSpPr>
          <p:cNvPr id="67" name="Text 64"/>
          <p:cNvSpPr/>
          <p:nvPr/>
        </p:nvSpPr>
        <p:spPr>
          <a:xfrm>
            <a:off x="6193631" y="4293394"/>
            <a:ext cx="1206722" cy="157163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形态：图文问答</a:t>
            </a:r>
            <a:endParaRPr lang="en-US" sz="900" dirty="0"/>
          </a:p>
        </p:txBody>
      </p:sp>
      <p:sp>
        <p:nvSpPr>
          <p:cNvPr id="68" name="Text 65"/>
          <p:cNvSpPr/>
          <p:nvPr/>
        </p:nvSpPr>
        <p:spPr>
          <a:xfrm>
            <a:off x="7665244" y="2872680"/>
            <a:ext cx="1206722" cy="171450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33941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2025</a:t>
            </a:r>
            <a:endParaRPr lang="en-US" sz="900" dirty="0"/>
          </a:p>
        </p:txBody>
      </p:sp>
      <p:sp>
        <p:nvSpPr>
          <p:cNvPr id="69" name="Text 66"/>
          <p:cNvSpPr/>
          <p:nvPr/>
        </p:nvSpPr>
        <p:spPr>
          <a:xfrm>
            <a:off x="7665244" y="3070920"/>
            <a:ext cx="1206722" cy="228600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180" b="1" dirty="0">
                <a:solidFill>
                  <a:srgbClr val="000000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GPT-5</a:t>
            </a:r>
            <a:endParaRPr lang="en-US" sz="1180" dirty="0"/>
          </a:p>
        </p:txBody>
      </p:sp>
      <p:sp>
        <p:nvSpPr>
          <p:cNvPr id="70" name="Text 67"/>
          <p:cNvSpPr/>
          <p:nvPr/>
        </p:nvSpPr>
        <p:spPr>
          <a:xfrm>
            <a:off x="7665244" y="3559820"/>
            <a:ext cx="1206722" cy="157163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参数：未披露</a:t>
            </a:r>
            <a:endParaRPr lang="en-US" sz="900" dirty="0"/>
          </a:p>
        </p:txBody>
      </p:sp>
      <p:sp>
        <p:nvSpPr>
          <p:cNvPr id="71" name="Text 68"/>
          <p:cNvSpPr/>
          <p:nvPr/>
        </p:nvSpPr>
        <p:spPr>
          <a:xfrm>
            <a:off x="7665244" y="3716982"/>
            <a:ext cx="1206722" cy="157163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数据：未披露</a:t>
            </a:r>
            <a:endParaRPr lang="en-US" sz="900" dirty="0"/>
          </a:p>
        </p:txBody>
      </p:sp>
      <p:sp>
        <p:nvSpPr>
          <p:cNvPr id="72" name="Text 69"/>
          <p:cNvSpPr/>
          <p:nvPr/>
        </p:nvSpPr>
        <p:spPr>
          <a:xfrm>
            <a:off x="7665244" y="4136231"/>
            <a:ext cx="1206722" cy="157163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能力：统一路由</a:t>
            </a:r>
            <a:endParaRPr lang="en-US" sz="900" dirty="0"/>
          </a:p>
        </p:txBody>
      </p:sp>
      <p:sp>
        <p:nvSpPr>
          <p:cNvPr id="73" name="Text 70"/>
          <p:cNvSpPr/>
          <p:nvPr/>
        </p:nvSpPr>
        <p:spPr>
          <a:xfrm>
            <a:off x="7665244" y="4293394"/>
            <a:ext cx="1206722" cy="157163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形态：快慢双档</a:t>
            </a:r>
            <a:endParaRPr lang="en-US" sz="900" dirty="0"/>
          </a:p>
        </p:txBody>
      </p:sp>
      <p:sp>
        <p:nvSpPr>
          <p:cNvPr id="74" name="Text 71"/>
          <p:cNvSpPr/>
          <p:nvPr/>
        </p:nvSpPr>
        <p:spPr>
          <a:xfrm>
            <a:off x="214313" y="4686300"/>
            <a:ext cx="8976836" cy="128588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675" i="1" dirty="0">
                <a:solidFill>
                  <a:srgbClr val="898989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资料来源：西藏网信办、腾讯云 GPT-2、腾讯云 GPT-3、数字中国、报告汇、OpenAI 官方、驱动中国、中国银河证券、博客园。</a:t>
            </a:r>
            <a:endParaRPr lang="en-US" sz="675" dirty="0"/>
          </a:p>
        </p:txBody>
      </p:sp>
      <p:sp>
        <p:nvSpPr>
          <p:cNvPr id="65535" name="wm:hwcld:2026-10-23T02:30:37:30c7c9cf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</p:spPr>
      </p:sp>
      <p:sp>
        <p:nvSpPr>
          <p:cNvPr id="3" name="Shape 1"/>
          <p:cNvSpPr/>
          <p:nvPr/>
        </p:nvSpPr>
        <p:spPr>
          <a:xfrm>
            <a:off x="214313" y="772864"/>
            <a:ext cx="8715375" cy="392906"/>
          </a:xfrm>
          <a:prstGeom prst="rect">
            <a:avLst/>
          </a:prstGeom>
          <a:solidFill>
            <a:srgbClr val="FFF1EF"/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4313" y="772864"/>
            <a:ext cx="8715375" cy="39290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14313" y="1279624"/>
            <a:ext cx="2093119" cy="800100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421731" y="1279624"/>
            <a:ext cx="2093119" cy="800100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629150" y="1279624"/>
            <a:ext cx="2093119" cy="800100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836569" y="1279624"/>
            <a:ext cx="2093119" cy="800100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14313" y="2194024"/>
            <a:ext cx="2828925" cy="442912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157538" y="2194024"/>
            <a:ext cx="2828925" cy="442912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100763" y="2194024"/>
            <a:ext cx="2828925" cy="442912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14313" y="2750790"/>
            <a:ext cx="8715375" cy="1821656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/>
        </p:nvGraphicFramePr>
        <p:xfrm>
          <a:off x="221456" y="2757934"/>
          <a:ext cx="8701088" cy="1806476"/>
        </p:xfrm>
        <a:graphic>
          <a:graphicData uri="http://schemas.openxmlformats.org/drawingml/2006/table">
            <a:tbl>
              <a:tblPr/>
              <a:tblGrid>
                <a:gridCol w="2167570"/>
                <a:gridCol w="2198266"/>
                <a:gridCol w="2167570"/>
                <a:gridCol w="2167682"/>
              </a:tblGrid>
              <a:tr h="232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对比维度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Transformer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RNN/LSTM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CNN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157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序列建模方式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全局自注意力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逐时间步循环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局部窗口卷积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57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训练并行能力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全序列可并行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依赖时序串行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局部可并行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57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长距离依赖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直接建模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易梯度衰减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感受野受限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57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代表应用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GPT 系列基座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早期序列任务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图像文本分类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1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对预训练适配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天然契合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难扩展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需改造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 10"/>
          <p:cNvSpPr/>
          <p:nvPr/>
        </p:nvSpPr>
        <p:spPr>
          <a:xfrm>
            <a:off x="214313" y="329505"/>
            <a:ext cx="8976836" cy="328613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2080" dirty="0">
                <a:solidFill>
                  <a:srgbClr val="000000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技术原点：Transformer 架构与预训练范式的确立</a:t>
            </a:r>
            <a:endParaRPr lang="en-US" sz="2080" dirty="0"/>
          </a:p>
        </p:txBody>
      </p:sp>
      <p:sp>
        <p:nvSpPr>
          <p:cNvPr id="15" name="Text 11"/>
          <p:cNvSpPr/>
          <p:nvPr/>
        </p:nvSpPr>
        <p:spPr>
          <a:xfrm>
            <a:off x="400050" y="858589"/>
            <a:ext cx="8638365" cy="221456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070" b="1" dirty="0">
                <a:solidFill>
                  <a:srgbClr val="000000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2017 年 Transformer 以自注意力替代循环结构，确立可并行训练的序列建模范式，成为 GPT 全系列的基础架构。</a:t>
            </a:r>
            <a:endParaRPr lang="en-US" sz="1070" dirty="0"/>
          </a:p>
        </p:txBody>
      </p:sp>
      <p:sp>
        <p:nvSpPr>
          <p:cNvPr id="16" name="Text 12"/>
          <p:cNvSpPr/>
          <p:nvPr/>
        </p:nvSpPr>
        <p:spPr>
          <a:xfrm>
            <a:off x="336761" y="1372493"/>
            <a:ext cx="787313" cy="42862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D33941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2017</a:t>
            </a:r>
            <a:endParaRPr lang="en-US" sz="2700" dirty="0"/>
          </a:p>
        </p:txBody>
      </p:sp>
      <p:sp>
        <p:nvSpPr>
          <p:cNvPr id="17" name="Text 13"/>
          <p:cNvSpPr/>
          <p:nvPr/>
        </p:nvSpPr>
        <p:spPr>
          <a:xfrm>
            <a:off x="1130722" y="1658243"/>
            <a:ext cx="117729" cy="14287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898989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年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335756" y="1829693"/>
            <a:ext cx="1905738" cy="157163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Transformer 论文发表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2544905" y="1372493"/>
            <a:ext cx="213384" cy="42862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D33941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8</a:t>
            </a:r>
            <a:endParaRPr lang="en-US" sz="2700" dirty="0"/>
          </a:p>
        </p:txBody>
      </p:sp>
      <p:sp>
        <p:nvSpPr>
          <p:cNvPr id="20" name="Text 16"/>
          <p:cNvSpPr/>
          <p:nvPr/>
        </p:nvSpPr>
        <p:spPr>
          <a:xfrm>
            <a:off x="2782379" y="1658243"/>
            <a:ext cx="117729" cy="14287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898989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人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2543175" y="1829693"/>
            <a:ext cx="1905738" cy="157163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论文作者（Google 团队）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4749980" y="1372493"/>
            <a:ext cx="367903" cy="42862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D33941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12</a:t>
            </a:r>
            <a:endParaRPr lang="en-US" sz="2700" dirty="0"/>
          </a:p>
        </p:txBody>
      </p:sp>
      <p:sp>
        <p:nvSpPr>
          <p:cNvPr id="23" name="Text 19"/>
          <p:cNvSpPr/>
          <p:nvPr/>
        </p:nvSpPr>
        <p:spPr>
          <a:xfrm>
            <a:off x="5135128" y="1658243"/>
            <a:ext cx="117729" cy="14287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898989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层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4750594" y="1829693"/>
            <a:ext cx="1905738" cy="157163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GPT-1 解码器层数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6957678" y="1372493"/>
            <a:ext cx="441484" cy="42862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D33941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96</a:t>
            </a:r>
            <a:endParaRPr lang="en-US" sz="2700" dirty="0"/>
          </a:p>
        </p:txBody>
      </p:sp>
      <p:sp>
        <p:nvSpPr>
          <p:cNvPr id="26" name="Text 22"/>
          <p:cNvSpPr/>
          <p:nvPr/>
        </p:nvSpPr>
        <p:spPr>
          <a:xfrm>
            <a:off x="7414543" y="1658243"/>
            <a:ext cx="117729" cy="14287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898989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层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6958013" y="1829693"/>
            <a:ext cx="1905738" cy="157163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GPT-3 网络层数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335031" y="2311896"/>
            <a:ext cx="853535" cy="207169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070" b="1" dirty="0">
                <a:solidFill>
                  <a:srgbClr val="000000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Transformer</a:t>
            </a:r>
            <a:endParaRPr lang="en-US" sz="1070" dirty="0"/>
          </a:p>
        </p:txBody>
      </p:sp>
      <p:sp>
        <p:nvSpPr>
          <p:cNvPr id="29" name="Text 25"/>
          <p:cNvSpPr/>
          <p:nvPr/>
        </p:nvSpPr>
        <p:spPr>
          <a:xfrm>
            <a:off x="1220856" y="2258318"/>
            <a:ext cx="1785223" cy="314325"/>
          </a:xfrm>
          <a:prstGeom prst="rect">
            <a:avLst/>
          </a:prstGeom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2017 年 8 名研究员论文奠定大模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型基础架构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3278423" y="2311896"/>
            <a:ext cx="382619" cy="207169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070" b="1" dirty="0">
                <a:solidFill>
                  <a:srgbClr val="000000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GPT-1</a:t>
            </a:r>
            <a:endParaRPr lang="en-US" sz="1070" dirty="0"/>
          </a:p>
        </p:txBody>
      </p:sp>
      <p:sp>
        <p:nvSpPr>
          <p:cNvPr id="31" name="Text 27"/>
          <p:cNvSpPr/>
          <p:nvPr/>
        </p:nvSpPr>
        <p:spPr>
          <a:xfrm>
            <a:off x="3705151" y="2336899"/>
            <a:ext cx="1935170" cy="157163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以 12 层解码器验证预训练加微调可行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6222262" y="2311896"/>
            <a:ext cx="728448" cy="207169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070" b="1" dirty="0">
                <a:solidFill>
                  <a:srgbClr val="000000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GPT 全系列</a:t>
            </a:r>
            <a:endParaRPr lang="en-US" sz="1070" dirty="0"/>
          </a:p>
        </p:txBody>
      </p:sp>
      <p:sp>
        <p:nvSpPr>
          <p:cNvPr id="33" name="Text 29"/>
          <p:cNvSpPr/>
          <p:nvPr/>
        </p:nvSpPr>
        <p:spPr>
          <a:xfrm>
            <a:off x="6985471" y="2336899"/>
            <a:ext cx="1493687" cy="157163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选择 Decoder-only 架构路线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214313" y="4686300"/>
            <a:ext cx="8976836" cy="128588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675" i="1" dirty="0">
                <a:solidFill>
                  <a:srgbClr val="898989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资料来源：科普中国、腾讯云 GPT 演进史、腾讯云 GPT-3、西藏网信办。</a:t>
            </a:r>
            <a:endParaRPr lang="en-US" sz="675" dirty="0"/>
          </a:p>
        </p:txBody>
      </p:sp>
      <p:sp>
        <p:nvSpPr>
          <p:cNvPr id="65535" name="wm:hwcld:2026-10-23T02:30:37:30c7c9cf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</p:spPr>
      </p:sp>
      <p:sp>
        <p:nvSpPr>
          <p:cNvPr id="3" name="Shape 1"/>
          <p:cNvSpPr/>
          <p:nvPr/>
        </p:nvSpPr>
        <p:spPr>
          <a:xfrm>
            <a:off x="214313" y="772864"/>
            <a:ext cx="8715375" cy="392906"/>
          </a:xfrm>
          <a:prstGeom prst="rect">
            <a:avLst/>
          </a:prstGeom>
          <a:solidFill>
            <a:srgbClr val="FFF1EF"/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4313" y="772864"/>
            <a:ext cx="8715375" cy="39290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14313" y="1279624"/>
            <a:ext cx="2093119" cy="800100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421731" y="1279624"/>
            <a:ext cx="2093119" cy="800100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629150" y="1279624"/>
            <a:ext cx="2093119" cy="800100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836569" y="1279624"/>
            <a:ext cx="2093119" cy="800100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14313" y="2192238"/>
            <a:ext cx="4300538" cy="335756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29150" y="2192238"/>
            <a:ext cx="4300538" cy="335756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14313" y="2641848"/>
            <a:ext cx="8715375" cy="1928813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/>
        </p:nvGraphicFramePr>
        <p:xfrm>
          <a:off x="221456" y="2648992"/>
          <a:ext cx="8701088" cy="1917205"/>
        </p:xfrm>
        <a:graphic>
          <a:graphicData uri="http://schemas.openxmlformats.org/drawingml/2006/table">
            <a:tbl>
              <a:tblPr/>
              <a:tblGrid>
                <a:gridCol w="2047242"/>
                <a:gridCol w="2303190"/>
                <a:gridCol w="2047242"/>
                <a:gridCol w="2303413"/>
              </a:tblGrid>
              <a:tr h="232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对比维度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预训练加微调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从零监督训练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特征抽取迁移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379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标注数据需求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少量任务标注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大量任务标注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少量任务标注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79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训练成本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一次预训练复用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每任务重训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预训练后冻结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79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迁移到新任务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微调即可适配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需重新训练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仅作特征输入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79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参数更新范围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全参数微调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全参数训练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仅更新头部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30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典型代表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GPT-1 路线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传统分类模型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早期词向量方案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 9"/>
          <p:cNvSpPr/>
          <p:nvPr/>
        </p:nvSpPr>
        <p:spPr>
          <a:xfrm>
            <a:off x="214313" y="329505"/>
            <a:ext cx="8976836" cy="328613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2080" dirty="0">
                <a:solidFill>
                  <a:srgbClr val="000000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GPT-1：预训练加微调范式的开创者</a:t>
            </a:r>
            <a:endParaRPr lang="en-US" sz="2080" dirty="0"/>
          </a:p>
        </p:txBody>
      </p:sp>
      <p:sp>
        <p:nvSpPr>
          <p:cNvPr id="14" name="Text 10"/>
          <p:cNvSpPr/>
          <p:nvPr/>
        </p:nvSpPr>
        <p:spPr>
          <a:xfrm>
            <a:off x="400050" y="858589"/>
            <a:ext cx="8638365" cy="221456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070" b="1" dirty="0">
                <a:solidFill>
                  <a:srgbClr val="000000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GPT-1 以 1.17 亿参数与约 5GB BookCorpus 语料，首次验证无监督预训练加有监督微调优于从零训练。</a:t>
            </a:r>
            <a:endParaRPr lang="en-US" sz="1070" dirty="0"/>
          </a:p>
        </p:txBody>
      </p:sp>
      <p:sp>
        <p:nvSpPr>
          <p:cNvPr id="15" name="Text 11"/>
          <p:cNvSpPr/>
          <p:nvPr/>
        </p:nvSpPr>
        <p:spPr>
          <a:xfrm>
            <a:off x="334640" y="1372493"/>
            <a:ext cx="625435" cy="42862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D33941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1.17</a:t>
            </a:r>
            <a:endParaRPr lang="en-US" sz="2700" dirty="0"/>
          </a:p>
        </p:txBody>
      </p:sp>
      <p:sp>
        <p:nvSpPr>
          <p:cNvPr id="16" name="Text 12"/>
          <p:cNvSpPr/>
          <p:nvPr/>
        </p:nvSpPr>
        <p:spPr>
          <a:xfrm>
            <a:off x="969318" y="1658243"/>
            <a:ext cx="353187" cy="14287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898989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亿参数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335756" y="1829693"/>
            <a:ext cx="1905738" cy="157163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GPT-1 参数量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2542561" y="1372493"/>
            <a:ext cx="367903" cy="42862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D33941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12</a:t>
            </a:r>
            <a:endParaRPr lang="en-US" sz="2700" dirty="0"/>
          </a:p>
        </p:txBody>
      </p:sp>
      <p:sp>
        <p:nvSpPr>
          <p:cNvPr id="19" name="Text 15"/>
          <p:cNvSpPr/>
          <p:nvPr/>
        </p:nvSpPr>
        <p:spPr>
          <a:xfrm>
            <a:off x="2927710" y="1658243"/>
            <a:ext cx="117729" cy="14287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898989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层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2543175" y="1829693"/>
            <a:ext cx="1905738" cy="157163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解码器层数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4751431" y="1372493"/>
            <a:ext cx="206026" cy="42862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D33941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5</a:t>
            </a:r>
            <a:endParaRPr lang="en-US" sz="2700" dirty="0"/>
          </a:p>
        </p:txBody>
      </p:sp>
      <p:sp>
        <p:nvSpPr>
          <p:cNvPr id="22" name="Text 18"/>
          <p:cNvSpPr/>
          <p:nvPr/>
        </p:nvSpPr>
        <p:spPr>
          <a:xfrm>
            <a:off x="4979138" y="1658243"/>
            <a:ext cx="161877" cy="14287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898989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GB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4750594" y="1829693"/>
            <a:ext cx="1905738" cy="157163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BookCorpus 语料规模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6957175" y="1372493"/>
            <a:ext cx="875609" cy="42862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D33941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7000</a:t>
            </a:r>
            <a:endParaRPr lang="en-US" sz="2700" dirty="0"/>
          </a:p>
        </p:txBody>
      </p:sp>
      <p:sp>
        <p:nvSpPr>
          <p:cNvPr id="25" name="Text 21"/>
          <p:cNvSpPr/>
          <p:nvPr/>
        </p:nvSpPr>
        <p:spPr>
          <a:xfrm>
            <a:off x="7835019" y="1658243"/>
            <a:ext cx="117729" cy="14287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898989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本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958013" y="1829693"/>
            <a:ext cx="1905738" cy="157163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BookCorpus 书目数量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335198" y="2256532"/>
            <a:ext cx="382619" cy="207169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070" b="1" dirty="0">
                <a:solidFill>
                  <a:srgbClr val="000000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GPT-1</a:t>
            </a:r>
            <a:endParaRPr lang="en-US" sz="1070" dirty="0"/>
          </a:p>
        </p:txBody>
      </p:sp>
      <p:sp>
        <p:nvSpPr>
          <p:cNvPr id="28" name="Text 24"/>
          <p:cNvSpPr/>
          <p:nvPr/>
        </p:nvSpPr>
        <p:spPr>
          <a:xfrm>
            <a:off x="763042" y="2281535"/>
            <a:ext cx="2266283" cy="157163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1.17 亿参数在 12 层解码器上验证预训练价值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4752045" y="2256532"/>
            <a:ext cx="838819" cy="207169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070" b="1" dirty="0">
                <a:solidFill>
                  <a:srgbClr val="000000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BookCorpus</a:t>
            </a:r>
            <a:endParaRPr lang="en-US" sz="1070" dirty="0"/>
          </a:p>
        </p:txBody>
      </p:sp>
      <p:sp>
        <p:nvSpPr>
          <p:cNvPr id="30" name="Text 26"/>
          <p:cNvSpPr/>
          <p:nvPr/>
        </p:nvSpPr>
        <p:spPr>
          <a:xfrm>
            <a:off x="5623861" y="2281535"/>
            <a:ext cx="2133838" cy="157163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约 7000 本书、约 5GB 语料支撑首代训练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214313" y="4686300"/>
            <a:ext cx="8976836" cy="128588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675" i="1" dirty="0">
                <a:solidFill>
                  <a:srgbClr val="898989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资料来源：西藏网信办、腾讯云 GPT 演进史、腾讯云 GPT-2。</a:t>
            </a:r>
            <a:endParaRPr lang="en-US" sz="675" dirty="0"/>
          </a:p>
        </p:txBody>
      </p:sp>
      <p:sp>
        <p:nvSpPr>
          <p:cNvPr id="65535" name="wm:hwcld:2026-10-23T02:30:37:30c7c9cf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</p:spPr>
      </p:sp>
      <p:sp>
        <p:nvSpPr>
          <p:cNvPr id="3" name="Shape 1"/>
          <p:cNvSpPr/>
          <p:nvPr/>
        </p:nvSpPr>
        <p:spPr>
          <a:xfrm>
            <a:off x="214313" y="772864"/>
            <a:ext cx="8715375" cy="392906"/>
          </a:xfrm>
          <a:prstGeom prst="rect">
            <a:avLst/>
          </a:prstGeom>
          <a:solidFill>
            <a:srgbClr val="FFF1EF"/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4313" y="772864"/>
            <a:ext cx="8715375" cy="39290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14313" y="1279624"/>
            <a:ext cx="2093119" cy="800100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421731" y="1279624"/>
            <a:ext cx="2093119" cy="800100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629150" y="1279624"/>
            <a:ext cx="2093119" cy="800100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836569" y="1279624"/>
            <a:ext cx="2093119" cy="800100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14313" y="2192238"/>
            <a:ext cx="4300538" cy="335756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29150" y="2192238"/>
            <a:ext cx="4300538" cy="335756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14313" y="2641848"/>
            <a:ext cx="8715375" cy="1928813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/>
        </p:nvGraphicFramePr>
        <p:xfrm>
          <a:off x="221456" y="2648992"/>
          <a:ext cx="8701088" cy="1917202"/>
        </p:xfrm>
        <a:graphic>
          <a:graphicData uri="http://schemas.openxmlformats.org/drawingml/2006/table">
            <a:tbl>
              <a:tblPr/>
              <a:tblGrid>
                <a:gridCol w="2318705"/>
                <a:gridCol w="2242021"/>
                <a:gridCol w="2028825"/>
                <a:gridCol w="2111536"/>
              </a:tblGrid>
              <a:tr h="232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对比维度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GPT-1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GPT-2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GPT-3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815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发布时间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2018-06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2019-02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2020-05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15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参数量级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1.17 亿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15 亿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1750 亿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15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训练数据规模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约 5GB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40GB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300B token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15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数据来源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BookCorpus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WebText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多源混合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15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发布策略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完整公开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分阶段发布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API 开放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74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能力标志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预训练微调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零样本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上下文学习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 9"/>
          <p:cNvSpPr/>
          <p:nvPr/>
        </p:nvSpPr>
        <p:spPr>
          <a:xfrm>
            <a:off x="214313" y="329505"/>
            <a:ext cx="8976836" cy="328613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2080" dirty="0">
                <a:solidFill>
                  <a:srgbClr val="000000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GPT-2：参数跃升与零样本能力的萌芽</a:t>
            </a:r>
            <a:endParaRPr lang="en-US" sz="2080" dirty="0"/>
          </a:p>
        </p:txBody>
      </p:sp>
      <p:sp>
        <p:nvSpPr>
          <p:cNvPr id="14" name="Text 10"/>
          <p:cNvSpPr/>
          <p:nvPr/>
        </p:nvSpPr>
        <p:spPr>
          <a:xfrm>
            <a:off x="400050" y="858589"/>
            <a:ext cx="8638365" cy="221456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070" b="1" dirty="0">
                <a:solidFill>
                  <a:srgbClr val="000000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GPT-2 以 15 亿参数与 800 万网页规模让零样本能力首次显现，也因滥用风险开创分阶段发布先例。</a:t>
            </a:r>
            <a:endParaRPr lang="en-US" sz="1070" dirty="0"/>
          </a:p>
        </p:txBody>
      </p:sp>
      <p:sp>
        <p:nvSpPr>
          <p:cNvPr id="15" name="Text 11"/>
          <p:cNvSpPr/>
          <p:nvPr/>
        </p:nvSpPr>
        <p:spPr>
          <a:xfrm>
            <a:off x="335142" y="1372493"/>
            <a:ext cx="367903" cy="42862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D33941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15</a:t>
            </a:r>
            <a:endParaRPr lang="en-US" sz="2700" dirty="0"/>
          </a:p>
        </p:txBody>
      </p:sp>
      <p:sp>
        <p:nvSpPr>
          <p:cNvPr id="16" name="Text 12"/>
          <p:cNvSpPr/>
          <p:nvPr/>
        </p:nvSpPr>
        <p:spPr>
          <a:xfrm>
            <a:off x="720291" y="1658243"/>
            <a:ext cx="353187" cy="14287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898989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亿参数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335756" y="1829693"/>
            <a:ext cx="1905738" cy="157163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GPT-2 参数量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2542059" y="1372493"/>
            <a:ext cx="448842" cy="42862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D33941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40</a:t>
            </a:r>
            <a:endParaRPr lang="en-US" sz="2700" dirty="0"/>
          </a:p>
        </p:txBody>
      </p:sp>
      <p:sp>
        <p:nvSpPr>
          <p:cNvPr id="19" name="Text 15"/>
          <p:cNvSpPr/>
          <p:nvPr/>
        </p:nvSpPr>
        <p:spPr>
          <a:xfrm>
            <a:off x="3003556" y="1658243"/>
            <a:ext cx="161877" cy="14287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898989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GB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2543175" y="1829693"/>
            <a:ext cx="1905738" cy="157163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WebText 语料规模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4751319" y="1372493"/>
            <a:ext cx="669584" cy="42862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D33941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800</a:t>
            </a:r>
            <a:endParaRPr lang="en-US" sz="2700" dirty="0"/>
          </a:p>
        </p:txBody>
      </p:sp>
      <p:sp>
        <p:nvSpPr>
          <p:cNvPr id="22" name="Text 18"/>
          <p:cNvSpPr/>
          <p:nvPr/>
        </p:nvSpPr>
        <p:spPr>
          <a:xfrm>
            <a:off x="5430701" y="1658243"/>
            <a:ext cx="117729" cy="14287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898989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万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4750594" y="1829693"/>
            <a:ext cx="1905738" cy="157163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WebText 网页数量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6956952" y="1372493"/>
            <a:ext cx="596003" cy="42862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D33941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10+</a:t>
            </a:r>
            <a:endParaRPr lang="en-US" sz="2700" dirty="0"/>
          </a:p>
        </p:txBody>
      </p:sp>
      <p:sp>
        <p:nvSpPr>
          <p:cNvPr id="25" name="Text 21"/>
          <p:cNvSpPr/>
          <p:nvPr/>
        </p:nvSpPr>
        <p:spPr>
          <a:xfrm>
            <a:off x="7563110" y="1658243"/>
            <a:ext cx="117729" cy="14287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898989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倍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958013" y="1829693"/>
            <a:ext cx="1905738" cy="157163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相对 GPT-1 参数增幅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337431" y="2256532"/>
            <a:ext cx="397335" cy="207169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070" b="1" dirty="0">
                <a:solidFill>
                  <a:srgbClr val="000000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GPT-2</a:t>
            </a:r>
            <a:endParaRPr lang="en-US" sz="1070" dirty="0"/>
          </a:p>
        </p:txBody>
      </p:sp>
      <p:sp>
        <p:nvSpPr>
          <p:cNvPr id="28" name="Text 24"/>
          <p:cNvSpPr/>
          <p:nvPr/>
        </p:nvSpPr>
        <p:spPr>
          <a:xfrm>
            <a:off x="780622" y="2281535"/>
            <a:ext cx="2170628" cy="157163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15 亿参数与 800 万网页训练，零样本初现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4751598" y="2256532"/>
            <a:ext cx="573929" cy="207169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070" b="1" dirty="0">
                <a:solidFill>
                  <a:srgbClr val="000000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WebText</a:t>
            </a:r>
            <a:endParaRPr lang="en-US" sz="1070" dirty="0"/>
          </a:p>
        </p:txBody>
      </p:sp>
      <p:sp>
        <p:nvSpPr>
          <p:cNvPr id="30" name="Text 26"/>
          <p:cNvSpPr/>
          <p:nvPr/>
        </p:nvSpPr>
        <p:spPr>
          <a:xfrm>
            <a:off x="5365347" y="2281535"/>
            <a:ext cx="1942529" cy="157163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以 Reddit 外链网页构建约 40GB 语料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214313" y="4686300"/>
            <a:ext cx="8976836" cy="128588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675" i="1" dirty="0">
                <a:solidFill>
                  <a:srgbClr val="898989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资料来源：腾讯云 GPT-2、腾讯云 GPT-3、西藏网信办。</a:t>
            </a:r>
            <a:endParaRPr lang="en-US" sz="675" dirty="0"/>
          </a:p>
        </p:txBody>
      </p:sp>
      <p:sp>
        <p:nvSpPr>
          <p:cNvPr id="65535" name="wm:hwcld:2026-10-23T02:30:37:30c7c9cf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</p:spPr>
      </p:sp>
      <p:sp>
        <p:nvSpPr>
          <p:cNvPr id="3" name="Shape 1"/>
          <p:cNvSpPr/>
          <p:nvPr/>
        </p:nvSpPr>
        <p:spPr>
          <a:xfrm>
            <a:off x="214313" y="772864"/>
            <a:ext cx="8715375" cy="392906"/>
          </a:xfrm>
          <a:prstGeom prst="rect">
            <a:avLst/>
          </a:prstGeom>
          <a:solidFill>
            <a:srgbClr val="FFF1EF"/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4313" y="772864"/>
            <a:ext cx="8715375" cy="39290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14313" y="1279624"/>
            <a:ext cx="2093119" cy="800100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421731" y="1279624"/>
            <a:ext cx="2093119" cy="800100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629150" y="1279624"/>
            <a:ext cx="2093119" cy="800100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836569" y="1279624"/>
            <a:ext cx="2093119" cy="800100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14313" y="2193578"/>
            <a:ext cx="8715375" cy="407194"/>
          </a:xfrm>
          <a:prstGeom prst="rect">
            <a:avLst/>
          </a:prstGeom>
          <a:solidFill>
            <a:srgbClr val="F5F5F5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14313" y="2714625"/>
            <a:ext cx="8715375" cy="1857375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/>
        </p:nvGraphicFramePr>
        <p:xfrm>
          <a:off x="221456" y="2721769"/>
          <a:ext cx="8701088" cy="1843087"/>
        </p:xfrm>
        <a:graphic>
          <a:graphicData uri="http://schemas.openxmlformats.org/drawingml/2006/table">
            <a:tbl>
              <a:tblPr/>
              <a:tblGrid>
                <a:gridCol w="4194497"/>
                <a:gridCol w="2139218"/>
                <a:gridCol w="2367372"/>
              </a:tblGrid>
              <a:tr h="232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结构指标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数值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单位/口径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2314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注意力头数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96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个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314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上下文长度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2048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token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314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词表大小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50000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词表项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314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相对 GPT-2 参数增幅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约 117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倍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834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发布时间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2020-05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年月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214313" y="329505"/>
            <a:ext cx="8976836" cy="328613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2080" dirty="0">
                <a:solidFill>
                  <a:srgbClr val="000000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GPT-3：千亿参数带来的涌现与上下文学习</a:t>
            </a:r>
            <a:endParaRPr lang="en-US" sz="2080" dirty="0"/>
          </a:p>
        </p:txBody>
      </p:sp>
      <p:sp>
        <p:nvSpPr>
          <p:cNvPr id="13" name="Text 9"/>
          <p:cNvSpPr/>
          <p:nvPr/>
        </p:nvSpPr>
        <p:spPr>
          <a:xfrm>
            <a:off x="400050" y="858589"/>
            <a:ext cx="8638365" cy="221456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070" b="1" dirty="0">
                <a:solidFill>
                  <a:srgbClr val="000000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GPT-3 以 1750 亿参数与 300B token 训练集把规模推上千亿级，并让少样本上下文学习成为新的能力范式。</a:t>
            </a:r>
            <a:endParaRPr lang="en-US" sz="1070" dirty="0"/>
          </a:p>
        </p:txBody>
      </p:sp>
      <p:sp>
        <p:nvSpPr>
          <p:cNvPr id="14" name="Text 10"/>
          <p:cNvSpPr/>
          <p:nvPr/>
        </p:nvSpPr>
        <p:spPr>
          <a:xfrm>
            <a:off x="336091" y="1372493"/>
            <a:ext cx="787313" cy="42862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D33941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1750</a:t>
            </a:r>
            <a:endParaRPr lang="en-US" sz="2700" dirty="0"/>
          </a:p>
        </p:txBody>
      </p:sp>
      <p:sp>
        <p:nvSpPr>
          <p:cNvPr id="15" name="Text 11"/>
          <p:cNvSpPr/>
          <p:nvPr/>
        </p:nvSpPr>
        <p:spPr>
          <a:xfrm>
            <a:off x="1129382" y="1658243"/>
            <a:ext cx="353187" cy="14287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898989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亿参数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335756" y="1829693"/>
            <a:ext cx="1905738" cy="157163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GPT-3 参数量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2542840" y="1372493"/>
            <a:ext cx="441484" cy="42862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D33941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96</a:t>
            </a:r>
            <a:endParaRPr lang="en-US" sz="2700" dirty="0"/>
          </a:p>
        </p:txBody>
      </p:sp>
      <p:sp>
        <p:nvSpPr>
          <p:cNvPr id="18" name="Text 14"/>
          <p:cNvSpPr/>
          <p:nvPr/>
        </p:nvSpPr>
        <p:spPr>
          <a:xfrm>
            <a:off x="2999705" y="1658243"/>
            <a:ext cx="117729" cy="14287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898989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层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2543175" y="1829693"/>
            <a:ext cx="1905738" cy="157163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网络层数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4751766" y="1372493"/>
            <a:ext cx="1000697" cy="42862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D33941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12288</a:t>
            </a:r>
            <a:endParaRPr lang="en-US" sz="2700" dirty="0"/>
          </a:p>
        </p:txBody>
      </p:sp>
      <p:sp>
        <p:nvSpPr>
          <p:cNvPr id="21" name="Text 17"/>
          <p:cNvSpPr/>
          <p:nvPr/>
        </p:nvSpPr>
        <p:spPr>
          <a:xfrm>
            <a:off x="5753063" y="1658243"/>
            <a:ext cx="117729" cy="14287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898989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维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4750594" y="1829693"/>
            <a:ext cx="1905738" cy="157163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嵌入维度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6957845" y="1372493"/>
            <a:ext cx="662226" cy="42862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D33941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300</a:t>
            </a:r>
            <a:endParaRPr lang="en-US" sz="2700" dirty="0"/>
          </a:p>
        </p:txBody>
      </p:sp>
      <p:sp>
        <p:nvSpPr>
          <p:cNvPr id="24" name="Text 20"/>
          <p:cNvSpPr/>
          <p:nvPr/>
        </p:nvSpPr>
        <p:spPr>
          <a:xfrm>
            <a:off x="6958013" y="1829693"/>
            <a:ext cx="1905738" cy="157163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训练 token 量（十亿 token）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364331" y="2286446"/>
            <a:ext cx="8667798" cy="221456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规模跃升催生上下文学习等涌现能力，模型无需微调即可迁移新任务。</a:t>
            </a:r>
            <a:endParaRPr lang="en-US" sz="1070" dirty="0"/>
          </a:p>
        </p:txBody>
      </p:sp>
      <p:sp>
        <p:nvSpPr>
          <p:cNvPr id="26" name="Text 22"/>
          <p:cNvSpPr/>
          <p:nvPr/>
        </p:nvSpPr>
        <p:spPr>
          <a:xfrm>
            <a:off x="214313" y="4686300"/>
            <a:ext cx="8976836" cy="128588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675" i="1" dirty="0">
                <a:solidFill>
                  <a:srgbClr val="898989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资料来源：腾讯云 GPT-3、西藏网信办、腾讯云 GPT-2。</a:t>
            </a:r>
            <a:endParaRPr lang="en-US" sz="675" dirty="0"/>
          </a:p>
        </p:txBody>
      </p:sp>
      <p:sp>
        <p:nvSpPr>
          <p:cNvPr id="65535" name="wm:hwcld:2026-10-23T02:30:37:30c7c9cf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</p:spPr>
      </p:sp>
      <p:sp>
        <p:nvSpPr>
          <p:cNvPr id="3" name="Shape 1"/>
          <p:cNvSpPr/>
          <p:nvPr/>
        </p:nvSpPr>
        <p:spPr>
          <a:xfrm>
            <a:off x="214313" y="772864"/>
            <a:ext cx="8715375" cy="392906"/>
          </a:xfrm>
          <a:prstGeom prst="rect">
            <a:avLst/>
          </a:prstGeom>
          <a:solidFill>
            <a:srgbClr val="FFF1EF"/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4313" y="772864"/>
            <a:ext cx="8715375" cy="39290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14313" y="1279624"/>
            <a:ext cx="2093119" cy="800100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421731" y="1279624"/>
            <a:ext cx="2093119" cy="800100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629150" y="1279624"/>
            <a:ext cx="2093119" cy="800100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836569" y="1279624"/>
            <a:ext cx="2093119" cy="800100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14313" y="2193578"/>
            <a:ext cx="8715375" cy="407194"/>
          </a:xfrm>
          <a:prstGeom prst="rect">
            <a:avLst/>
          </a:prstGeom>
          <a:solidFill>
            <a:srgbClr val="F5F5F5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14313" y="2714625"/>
            <a:ext cx="8715375" cy="1857375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/>
        </p:nvGraphicFramePr>
        <p:xfrm>
          <a:off x="221456" y="2721769"/>
          <a:ext cx="8701088" cy="1843087"/>
        </p:xfrm>
        <a:graphic>
          <a:graphicData uri="http://schemas.openxmlformats.org/drawingml/2006/table">
            <a:tbl>
              <a:tblPr/>
              <a:tblGrid>
                <a:gridCol w="1572071"/>
                <a:gridCol w="2124261"/>
                <a:gridCol w="2491383"/>
                <a:gridCol w="2513372"/>
              </a:tblGrid>
              <a:tr h="232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指标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2020 Kaplan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2022 Chinchilla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2024 推理时计算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2314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核心主张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参数主导缩放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参数数据同步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推理预算缩放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314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参数幂律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0.73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0.5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不适用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314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数据幂律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0.27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0.5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不适用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314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配比取向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约 20:1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接近 1:1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按需加算力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834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代表模型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GPT-3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Chinchilla 70B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o1 系列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214313" y="329505"/>
            <a:ext cx="8976836" cy="328613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2080" dirty="0">
                <a:solidFill>
                  <a:srgbClr val="000000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规模定律演进：从 Kaplan 到 Chinchilla 的算力分配之争</a:t>
            </a:r>
            <a:endParaRPr lang="en-US" sz="2080" dirty="0"/>
          </a:p>
        </p:txBody>
      </p:sp>
      <p:sp>
        <p:nvSpPr>
          <p:cNvPr id="13" name="Text 9"/>
          <p:cNvSpPr/>
          <p:nvPr/>
        </p:nvSpPr>
        <p:spPr>
          <a:xfrm>
            <a:off x="400050" y="858589"/>
            <a:ext cx="8638365" cy="221456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070" b="1" dirty="0">
                <a:solidFill>
                  <a:srgbClr val="000000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Chinchilla 用 400 余次实验把参数与数据配比从约 20:1 修正到接近 1:1，改写了行业堆参数的算力分配逻辑。</a:t>
            </a:r>
            <a:endParaRPr lang="en-US" sz="1070" dirty="0"/>
          </a:p>
        </p:txBody>
      </p:sp>
      <p:sp>
        <p:nvSpPr>
          <p:cNvPr id="14" name="Text 10"/>
          <p:cNvSpPr/>
          <p:nvPr/>
        </p:nvSpPr>
        <p:spPr>
          <a:xfrm>
            <a:off x="335198" y="1372493"/>
            <a:ext cx="728448" cy="42862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D33941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0.73</a:t>
            </a:r>
            <a:endParaRPr lang="en-US" sz="2700" dirty="0"/>
          </a:p>
        </p:txBody>
      </p:sp>
      <p:sp>
        <p:nvSpPr>
          <p:cNvPr id="15" name="Text 11"/>
          <p:cNvSpPr/>
          <p:nvPr/>
        </p:nvSpPr>
        <p:spPr>
          <a:xfrm>
            <a:off x="1070446" y="1658243"/>
            <a:ext cx="235458" cy="14287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898989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幂律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335756" y="1829693"/>
            <a:ext cx="1905738" cy="157163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Kaplan 参数幂律指数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2541556" y="1372493"/>
            <a:ext cx="551855" cy="42862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D33941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0.5</a:t>
            </a:r>
            <a:endParaRPr lang="en-US" sz="2700" dirty="0"/>
          </a:p>
        </p:txBody>
      </p:sp>
      <p:sp>
        <p:nvSpPr>
          <p:cNvPr id="18" name="Text 14"/>
          <p:cNvSpPr/>
          <p:nvPr/>
        </p:nvSpPr>
        <p:spPr>
          <a:xfrm>
            <a:off x="3104294" y="1658243"/>
            <a:ext cx="235458" cy="14287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898989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幂律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2543175" y="1829693"/>
            <a:ext cx="1905738" cy="157163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Chinchilla 参数指数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4750705" y="1372493"/>
            <a:ext cx="419410" cy="42862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D33941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70</a:t>
            </a:r>
            <a:endParaRPr lang="en-US" sz="2700" dirty="0"/>
          </a:p>
        </p:txBody>
      </p:sp>
      <p:sp>
        <p:nvSpPr>
          <p:cNvPr id="21" name="Text 17"/>
          <p:cNvSpPr/>
          <p:nvPr/>
        </p:nvSpPr>
        <p:spPr>
          <a:xfrm>
            <a:off x="5186586" y="1658243"/>
            <a:ext cx="470916" cy="14287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898989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十亿参数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4750594" y="1829693"/>
            <a:ext cx="1905738" cy="157163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Chinchilla 代表模型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6957566" y="1372493"/>
            <a:ext cx="492990" cy="42862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D33941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1.4</a:t>
            </a:r>
            <a:endParaRPr lang="en-US" sz="2700" dirty="0"/>
          </a:p>
        </p:txBody>
      </p:sp>
      <p:sp>
        <p:nvSpPr>
          <p:cNvPr id="24" name="Text 20"/>
          <p:cNvSpPr/>
          <p:nvPr/>
        </p:nvSpPr>
        <p:spPr>
          <a:xfrm>
            <a:off x="7464326" y="1658243"/>
            <a:ext cx="235458" cy="14287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898989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万亿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6958013" y="1829693"/>
            <a:ext cx="1905738" cy="157163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Chinchilla 训练 token 量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364331" y="2286446"/>
            <a:ext cx="8667798" cy="221456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配比由约 20:1 转向接近 1:1，小模型吃大数据成为新策略，推理时计算成为第三条增长轴。</a:t>
            </a:r>
            <a:endParaRPr lang="en-US" sz="1070" dirty="0"/>
          </a:p>
        </p:txBody>
      </p:sp>
      <p:sp>
        <p:nvSpPr>
          <p:cNvPr id="27" name="Text 23"/>
          <p:cNvSpPr/>
          <p:nvPr/>
        </p:nvSpPr>
        <p:spPr>
          <a:xfrm>
            <a:off x="214313" y="4686300"/>
            <a:ext cx="8976836" cy="128588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675" i="1" dirty="0">
                <a:solidFill>
                  <a:srgbClr val="898989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资料来源：CSDN DevPress、腾讯云 Scaling Law、博客园。</a:t>
            </a:r>
            <a:endParaRPr lang="en-US" sz="675" dirty="0"/>
          </a:p>
        </p:txBody>
      </p:sp>
      <p:sp>
        <p:nvSpPr>
          <p:cNvPr id="65535" name="wm:hwcld:2026-10-23T02:30:37:30c7c9cf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</p:spPr>
      </p:sp>
      <p:sp>
        <p:nvSpPr>
          <p:cNvPr id="3" name="Shape 1"/>
          <p:cNvSpPr/>
          <p:nvPr/>
        </p:nvSpPr>
        <p:spPr>
          <a:xfrm>
            <a:off x="214313" y="772864"/>
            <a:ext cx="8715375" cy="392906"/>
          </a:xfrm>
          <a:prstGeom prst="rect">
            <a:avLst/>
          </a:prstGeom>
          <a:solidFill>
            <a:srgbClr val="FFF1EF"/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4313" y="772864"/>
            <a:ext cx="8715375" cy="39290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14313" y="1279624"/>
            <a:ext cx="2093119" cy="800100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421731" y="1279624"/>
            <a:ext cx="2093119" cy="800100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629150" y="1279624"/>
            <a:ext cx="2093119" cy="800100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836569" y="1279624"/>
            <a:ext cx="2093119" cy="800100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14313" y="2193578"/>
            <a:ext cx="8715375" cy="407194"/>
          </a:xfrm>
          <a:prstGeom prst="rect">
            <a:avLst/>
          </a:prstGeom>
          <a:solidFill>
            <a:srgbClr val="F5F5F5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14313" y="2714625"/>
            <a:ext cx="8715375" cy="1857375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/>
        </p:nvGraphicFramePr>
        <p:xfrm>
          <a:off x="221456" y="2721769"/>
          <a:ext cx="8701088" cy="1843087"/>
        </p:xfrm>
        <a:graphic>
          <a:graphicData uri="http://schemas.openxmlformats.org/drawingml/2006/table">
            <a:tbl>
              <a:tblPr/>
              <a:tblGrid>
                <a:gridCol w="1587698"/>
                <a:gridCol w="2349847"/>
                <a:gridCol w="2117006"/>
                <a:gridCol w="2646536"/>
              </a:tblGrid>
              <a:tr h="232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阶段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预训练基座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指令微调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人类反馈强化学习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2314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数据来源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海量网络文本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人工示范问答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人类偏好排序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314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训练目标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预测下一 token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跟随指令作答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最大人类偏好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314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核心方法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自监督学习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监督微调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奖励模型加 PPO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314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标注投入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无人工标注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标注员示范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约 40 名标注员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834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产出效果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语言能力基座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按指令回答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对齐人类偏好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214313" y="329505"/>
            <a:ext cx="8976836" cy="328613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2080" dirty="0">
                <a:solidFill>
                  <a:srgbClr val="000000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ChatGPT 诞生：从基座模型到对话产品的转折</a:t>
            </a:r>
            <a:endParaRPr lang="en-US" sz="2080" dirty="0"/>
          </a:p>
        </p:txBody>
      </p:sp>
      <p:sp>
        <p:nvSpPr>
          <p:cNvPr id="13" name="Text 9"/>
          <p:cNvSpPr/>
          <p:nvPr/>
        </p:nvSpPr>
        <p:spPr>
          <a:xfrm>
            <a:off x="400050" y="858589"/>
            <a:ext cx="8638365" cy="221456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070" b="1" dirty="0">
                <a:solidFill>
                  <a:srgbClr val="000000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ChatGPT 以 GPT-3.5 为基座，通过指令微调与三阶段人类反馈强化学习，把大模型从补全工具变成可用对话产品。</a:t>
            </a:r>
            <a:endParaRPr lang="en-US" sz="1070" dirty="0"/>
          </a:p>
        </p:txBody>
      </p:sp>
      <p:sp>
        <p:nvSpPr>
          <p:cNvPr id="14" name="Text 10"/>
          <p:cNvSpPr/>
          <p:nvPr/>
        </p:nvSpPr>
        <p:spPr>
          <a:xfrm>
            <a:off x="336593" y="1372493"/>
            <a:ext cx="206026" cy="42862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D33941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5</a:t>
            </a:r>
            <a:endParaRPr lang="en-US" sz="2700" dirty="0"/>
          </a:p>
        </p:txBody>
      </p:sp>
      <p:sp>
        <p:nvSpPr>
          <p:cNvPr id="15" name="Text 11"/>
          <p:cNvSpPr/>
          <p:nvPr/>
        </p:nvSpPr>
        <p:spPr>
          <a:xfrm>
            <a:off x="566031" y="1658243"/>
            <a:ext cx="117729" cy="14287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898989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天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335756" y="1829693"/>
            <a:ext cx="1905738" cy="157163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用户破 100 万耗时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2544012" y="1372493"/>
            <a:ext cx="206026" cy="42862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D33941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2</a:t>
            </a:r>
            <a:endParaRPr lang="en-US" sz="2700" dirty="0"/>
          </a:p>
        </p:txBody>
      </p:sp>
      <p:sp>
        <p:nvSpPr>
          <p:cNvPr id="18" name="Text 14"/>
          <p:cNvSpPr/>
          <p:nvPr/>
        </p:nvSpPr>
        <p:spPr>
          <a:xfrm>
            <a:off x="2773449" y="1658243"/>
            <a:ext cx="235458" cy="14287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898989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个月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2543175" y="1829693"/>
            <a:ext cx="1905738" cy="157163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月活破亿耗时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4749031" y="1372493"/>
            <a:ext cx="824103" cy="42862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D33941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1300</a:t>
            </a:r>
            <a:endParaRPr lang="en-US" sz="2700" dirty="0"/>
          </a:p>
        </p:txBody>
      </p:sp>
      <p:sp>
        <p:nvSpPr>
          <p:cNvPr id="21" name="Text 17"/>
          <p:cNvSpPr/>
          <p:nvPr/>
        </p:nvSpPr>
        <p:spPr>
          <a:xfrm>
            <a:off x="5576143" y="1658243"/>
            <a:ext cx="117729" cy="14287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898989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万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4750594" y="1829693"/>
            <a:ext cx="1905738" cy="157163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上线首月日均独立访客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6956896" y="1372493"/>
            <a:ext cx="448842" cy="42862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D33941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40</a:t>
            </a:r>
            <a:endParaRPr lang="en-US" sz="2700" dirty="0"/>
          </a:p>
        </p:txBody>
      </p:sp>
      <p:sp>
        <p:nvSpPr>
          <p:cNvPr id="24" name="Text 20"/>
          <p:cNvSpPr/>
          <p:nvPr/>
        </p:nvSpPr>
        <p:spPr>
          <a:xfrm>
            <a:off x="7420124" y="1658243"/>
            <a:ext cx="117729" cy="14287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898989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人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6958013" y="1829693"/>
            <a:ext cx="1905738" cy="157163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RLHF 标注人员规模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364331" y="2286446"/>
            <a:ext cx="8667798" cy="221456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上线 2 个月月活破亿，成为增长最快的消费级应用；基座模型为 GPT-3.5。</a:t>
            </a:r>
            <a:endParaRPr lang="en-US" sz="1070" dirty="0"/>
          </a:p>
        </p:txBody>
      </p:sp>
      <p:sp>
        <p:nvSpPr>
          <p:cNvPr id="27" name="Text 23"/>
          <p:cNvSpPr/>
          <p:nvPr/>
        </p:nvSpPr>
        <p:spPr>
          <a:xfrm>
            <a:off x="214313" y="4686300"/>
            <a:ext cx="8976836" cy="128588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675" i="1" dirty="0">
                <a:solidFill>
                  <a:srgbClr val="898989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资料来源：数字中国、腾讯云 GPT 演进史、西藏网信办。</a:t>
            </a:r>
            <a:endParaRPr lang="en-US" sz="675" dirty="0"/>
          </a:p>
        </p:txBody>
      </p:sp>
      <p:sp>
        <p:nvSpPr>
          <p:cNvPr id="65535" name="wm:hwcld:2026-10-23T02:30:37:30c7c9cf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</p:spPr>
      </p:sp>
      <p:sp>
        <p:nvSpPr>
          <p:cNvPr id="3" name="Shape 1"/>
          <p:cNvSpPr/>
          <p:nvPr/>
        </p:nvSpPr>
        <p:spPr>
          <a:xfrm>
            <a:off x="214313" y="772864"/>
            <a:ext cx="8715375" cy="392906"/>
          </a:xfrm>
          <a:prstGeom prst="rect">
            <a:avLst/>
          </a:prstGeom>
          <a:solidFill>
            <a:srgbClr val="FFF1EF"/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4313" y="772864"/>
            <a:ext cx="8715375" cy="39290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14313" y="1279624"/>
            <a:ext cx="2093119" cy="800100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421731" y="1279624"/>
            <a:ext cx="2093119" cy="800100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629150" y="1279624"/>
            <a:ext cx="2093119" cy="800100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836569" y="1279624"/>
            <a:ext cx="2093119" cy="800100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14313" y="2192238"/>
            <a:ext cx="4300538" cy="335756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29150" y="2192238"/>
            <a:ext cx="4300538" cy="335756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14313" y="2640062"/>
            <a:ext cx="8715375" cy="407194"/>
          </a:xfrm>
          <a:prstGeom prst="rect">
            <a:avLst/>
          </a:prstGeom>
          <a:solidFill>
            <a:srgbClr val="F5F5F5"/>
          </a:solidFill>
          <a:ln w="6191">
            <a:solidFill>
              <a:srgbClr val="DDDDDD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313" y="3421856"/>
            <a:ext cx="8715375" cy="11501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14313" y="329505"/>
            <a:ext cx="8976836" cy="328613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2080" dirty="0">
                <a:solidFill>
                  <a:srgbClr val="000000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增长曲线：ChatGPT 用户规模的持续扩张</a:t>
            </a:r>
            <a:endParaRPr lang="en-US" sz="2080" dirty="0"/>
          </a:p>
        </p:txBody>
      </p:sp>
      <p:sp>
        <p:nvSpPr>
          <p:cNvPr id="14" name="Text 10"/>
          <p:cNvSpPr/>
          <p:nvPr/>
        </p:nvSpPr>
        <p:spPr>
          <a:xfrm>
            <a:off x="400050" y="858589"/>
            <a:ext cx="8638365" cy="221456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070" b="1" dirty="0">
                <a:solidFill>
                  <a:srgbClr val="000000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ChatGPT 上线 2 个月月活破亿，2026 年 9 月周活跃用户超过 12 亿，持续刷新消费级应用的规模上限。</a:t>
            </a:r>
            <a:endParaRPr lang="en-US" sz="1070" dirty="0"/>
          </a:p>
        </p:txBody>
      </p:sp>
      <p:sp>
        <p:nvSpPr>
          <p:cNvPr id="15" name="Text 11"/>
          <p:cNvSpPr/>
          <p:nvPr/>
        </p:nvSpPr>
        <p:spPr>
          <a:xfrm>
            <a:off x="336593" y="1372493"/>
            <a:ext cx="206026" cy="42862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D33941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5</a:t>
            </a:r>
            <a:endParaRPr lang="en-US" sz="2700" dirty="0"/>
          </a:p>
        </p:txBody>
      </p:sp>
      <p:sp>
        <p:nvSpPr>
          <p:cNvPr id="16" name="Text 12"/>
          <p:cNvSpPr/>
          <p:nvPr/>
        </p:nvSpPr>
        <p:spPr>
          <a:xfrm>
            <a:off x="566031" y="1658243"/>
            <a:ext cx="117729" cy="14287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898989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天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335756" y="1829693"/>
            <a:ext cx="1905738" cy="157163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破 100 万用户耗时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2544012" y="1372493"/>
            <a:ext cx="206026" cy="42862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D33941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2</a:t>
            </a:r>
            <a:endParaRPr lang="en-US" sz="2700" dirty="0"/>
          </a:p>
        </p:txBody>
      </p:sp>
      <p:sp>
        <p:nvSpPr>
          <p:cNvPr id="19" name="Text 15"/>
          <p:cNvSpPr/>
          <p:nvPr/>
        </p:nvSpPr>
        <p:spPr>
          <a:xfrm>
            <a:off x="2773449" y="1658243"/>
            <a:ext cx="235458" cy="14287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898989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个月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2543175" y="1829693"/>
            <a:ext cx="1905738" cy="157163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月活破亿耗时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4749980" y="1372493"/>
            <a:ext cx="367903" cy="42862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D33941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12</a:t>
            </a:r>
            <a:endParaRPr lang="en-US" sz="2700" dirty="0"/>
          </a:p>
        </p:txBody>
      </p:sp>
      <p:sp>
        <p:nvSpPr>
          <p:cNvPr id="22" name="Text 18"/>
          <p:cNvSpPr/>
          <p:nvPr/>
        </p:nvSpPr>
        <p:spPr>
          <a:xfrm>
            <a:off x="5135128" y="1658243"/>
            <a:ext cx="117729" cy="14287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898989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亿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4750594" y="1829693"/>
            <a:ext cx="1905738" cy="157163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周活跃用户（2026-09）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6957399" y="1372493"/>
            <a:ext cx="890326" cy="42862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D33941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5000</a:t>
            </a:r>
            <a:endParaRPr lang="en-US" sz="2700" dirty="0"/>
          </a:p>
        </p:txBody>
      </p:sp>
      <p:sp>
        <p:nvSpPr>
          <p:cNvPr id="25" name="Text 21"/>
          <p:cNvSpPr/>
          <p:nvPr/>
        </p:nvSpPr>
        <p:spPr>
          <a:xfrm>
            <a:off x="7849753" y="1658243"/>
            <a:ext cx="353187" cy="14287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898989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万以上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958013" y="1829693"/>
            <a:ext cx="1905738" cy="157163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付费订阅用户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336035" y="2256532"/>
            <a:ext cx="596003" cy="207169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070" b="1" dirty="0">
                <a:solidFill>
                  <a:srgbClr val="000000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ChatGPT</a:t>
            </a:r>
            <a:endParaRPr lang="en-US" sz="1070" dirty="0"/>
          </a:p>
        </p:txBody>
      </p:sp>
      <p:sp>
        <p:nvSpPr>
          <p:cNvPr id="28" name="Text 24"/>
          <p:cNvSpPr/>
          <p:nvPr/>
        </p:nvSpPr>
        <p:spPr>
          <a:xfrm>
            <a:off x="971717" y="2281535"/>
            <a:ext cx="2258925" cy="157163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2 个月月活破亿，快于 TikTok 与 Instagram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4749478" y="2256532"/>
            <a:ext cx="1346525" cy="207169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070" b="1" dirty="0">
                <a:solidFill>
                  <a:srgbClr val="000000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ChatGPT Enterprise</a:t>
            </a:r>
            <a:endParaRPr lang="en-US" sz="1070" dirty="0"/>
          </a:p>
        </p:txBody>
      </p:sp>
      <p:sp>
        <p:nvSpPr>
          <p:cNvPr id="30" name="Text 26"/>
          <p:cNvSpPr/>
          <p:nvPr/>
        </p:nvSpPr>
        <p:spPr>
          <a:xfrm>
            <a:off x="6113934" y="2281535"/>
            <a:ext cx="1074277" cy="157163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企业客户达 250 万家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364331" y="2732931"/>
            <a:ext cx="8667798" cy="221456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TikTok 破亿用 9 个月、Instagram 用 2.5 年，ChatGPT 仅用 2 个月。</a:t>
            </a:r>
            <a:endParaRPr lang="en-US" sz="1070" dirty="0"/>
          </a:p>
        </p:txBody>
      </p:sp>
      <p:sp>
        <p:nvSpPr>
          <p:cNvPr id="32" name="Text 28"/>
          <p:cNvSpPr/>
          <p:nvPr/>
        </p:nvSpPr>
        <p:spPr>
          <a:xfrm>
            <a:off x="214313" y="3159323"/>
            <a:ext cx="8976836" cy="264319"/>
          </a:xfrm>
          <a:prstGeom prst="rect">
            <a:avLst/>
          </a:prstGeom>
        </p:spPr>
        <p:txBody>
          <a:bodyPr wrap="none" lIns="0" tIns="0" rIns="0" bIns="48578" rtlCol="0" anchor="t">
            <a:noAutofit/>
          </a:bodyPr>
          <a:lstStyle/>
          <a:p>
            <a:pPr marL="0" indent="0" algn="l">
              <a:buNone/>
            </a:pPr>
            <a:r>
              <a:rPr lang="en-US" sz="1070" b="1" dirty="0">
                <a:solidFill>
                  <a:srgbClr val="000000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周活跃用户规模变化（单位：亿）</a:t>
            </a:r>
            <a:endParaRPr lang="en-US" sz="1070" dirty="0"/>
          </a:p>
        </p:txBody>
      </p:sp>
      <p:sp>
        <p:nvSpPr>
          <p:cNvPr id="33" name="Text 29"/>
          <p:cNvSpPr/>
          <p:nvPr/>
        </p:nvSpPr>
        <p:spPr>
          <a:xfrm>
            <a:off x="214313" y="4686300"/>
            <a:ext cx="8976836" cy="128588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675" i="1" dirty="0">
                <a:solidFill>
                  <a:srgbClr val="898989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资料来源：数字中国、腾讯云成绩单、驱动中国、北京商报。</a:t>
            </a:r>
            <a:endParaRPr lang="en-US" sz="675" dirty="0"/>
          </a:p>
        </p:txBody>
      </p:sp>
      <p:sp>
        <p:nvSpPr>
          <p:cNvPr id="65535" name="wm:hwcld:2026-10-23T02:30:37:30c7c9cf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</p:spPr>
      </p:sp>
      <p:sp>
        <p:nvSpPr>
          <p:cNvPr id="3" name="Shape 1"/>
          <p:cNvSpPr/>
          <p:nvPr/>
        </p:nvSpPr>
        <p:spPr>
          <a:xfrm>
            <a:off x="214313" y="772864"/>
            <a:ext cx="8715375" cy="392906"/>
          </a:xfrm>
          <a:prstGeom prst="rect">
            <a:avLst/>
          </a:prstGeom>
          <a:solidFill>
            <a:srgbClr val="FFF1EF"/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4313" y="772864"/>
            <a:ext cx="8715375" cy="39290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14313" y="1279624"/>
            <a:ext cx="2093119" cy="800100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421731" y="1279624"/>
            <a:ext cx="2093119" cy="800100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629150" y="1279624"/>
            <a:ext cx="2093119" cy="800100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836569" y="1279624"/>
            <a:ext cx="2093119" cy="800100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14313" y="2192238"/>
            <a:ext cx="4300538" cy="335756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29150" y="2192238"/>
            <a:ext cx="4300538" cy="335756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14313" y="2641848"/>
            <a:ext cx="8715375" cy="1928813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/>
        </p:nvGraphicFramePr>
        <p:xfrm>
          <a:off x="221456" y="2648992"/>
          <a:ext cx="8701088" cy="1917202"/>
        </p:xfrm>
        <a:graphic>
          <a:graphicData uri="http://schemas.openxmlformats.org/drawingml/2006/table">
            <a:tbl>
              <a:tblPr/>
              <a:tblGrid>
                <a:gridCol w="2328863"/>
                <a:gridCol w="2662498"/>
                <a:gridCol w="3709727"/>
              </a:tblGrid>
              <a:tr h="232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维度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GPT-3.5 阶段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GPT-4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815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输入模态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仅文本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文本与图像双输入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15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输出模态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文本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文本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15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专业基准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未披露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律师资格考试前 10%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15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多语言表现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有限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多语种能力显著提升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15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扩展性方法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经验性扩展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可预测扩展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74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主要局限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幻觉仍存在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幻觉仍存在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 9"/>
          <p:cNvSpPr/>
          <p:nvPr/>
        </p:nvSpPr>
        <p:spPr>
          <a:xfrm>
            <a:off x="214313" y="329505"/>
            <a:ext cx="8976836" cy="328613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2080" dirty="0">
                <a:solidFill>
                  <a:srgbClr val="000000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GPT-4：多模态输入与专业水准的能力跃升</a:t>
            </a:r>
            <a:endParaRPr lang="en-US" sz="2080" dirty="0"/>
          </a:p>
        </p:txBody>
      </p:sp>
      <p:sp>
        <p:nvSpPr>
          <p:cNvPr id="14" name="Text 10"/>
          <p:cNvSpPr/>
          <p:nvPr/>
        </p:nvSpPr>
        <p:spPr>
          <a:xfrm>
            <a:off x="400050" y="858589"/>
            <a:ext cx="8638365" cy="221456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070" b="1" dirty="0">
                <a:solidFill>
                  <a:srgbClr val="000000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GPT-4 于 2023-03-14 发布，把输入扩展到文本与图像双模态，在律师资格考试等专业基准进入前 10%，并提出可预测扩展的工程方法论。</a:t>
            </a:r>
            <a:endParaRPr lang="en-US" sz="1070" dirty="0"/>
          </a:p>
        </p:txBody>
      </p:sp>
      <p:sp>
        <p:nvSpPr>
          <p:cNvPr id="15" name="Text 11"/>
          <p:cNvSpPr/>
          <p:nvPr/>
        </p:nvSpPr>
        <p:spPr>
          <a:xfrm>
            <a:off x="334138" y="1372493"/>
            <a:ext cx="1081635" cy="42862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D33941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前10%</a:t>
            </a:r>
            <a:endParaRPr lang="en-US" sz="2700" dirty="0"/>
          </a:p>
        </p:txBody>
      </p:sp>
      <p:sp>
        <p:nvSpPr>
          <p:cNvPr id="16" name="Text 12"/>
          <p:cNvSpPr/>
          <p:nvPr/>
        </p:nvSpPr>
        <p:spPr>
          <a:xfrm>
            <a:off x="335756" y="1829693"/>
            <a:ext cx="1905738" cy="157163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律师资格考试进入前 10%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2544012" y="1372493"/>
            <a:ext cx="206026" cy="42862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D33941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2</a:t>
            </a:r>
            <a:endParaRPr lang="en-US" sz="2700" dirty="0"/>
          </a:p>
        </p:txBody>
      </p:sp>
      <p:sp>
        <p:nvSpPr>
          <p:cNvPr id="18" name="Text 14"/>
          <p:cNvSpPr/>
          <p:nvPr/>
        </p:nvSpPr>
        <p:spPr>
          <a:xfrm>
            <a:off x="2773449" y="1658243"/>
            <a:ext cx="117729" cy="14287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898989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种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2543175" y="1829693"/>
            <a:ext cx="1905738" cy="157163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输入模态（文本加图像）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4751933" y="1372493"/>
            <a:ext cx="824103" cy="42862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D33941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0.1%</a:t>
            </a:r>
            <a:endParaRPr lang="en-US" sz="2700" dirty="0"/>
          </a:p>
        </p:txBody>
      </p:sp>
      <p:sp>
        <p:nvSpPr>
          <p:cNvPr id="21" name="Text 17"/>
          <p:cNvSpPr/>
          <p:nvPr/>
        </p:nvSpPr>
        <p:spPr>
          <a:xfrm>
            <a:off x="5581948" y="1658243"/>
            <a:ext cx="235458" cy="14287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898989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算力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4750594" y="1829693"/>
            <a:ext cx="1905738" cy="157163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预测模型相对旗舰算力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6958850" y="1372493"/>
            <a:ext cx="206026" cy="42862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D33941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5</a:t>
            </a:r>
            <a:endParaRPr lang="en-US" sz="2700" dirty="0"/>
          </a:p>
        </p:txBody>
      </p:sp>
      <p:sp>
        <p:nvSpPr>
          <p:cNvPr id="24" name="Text 20"/>
          <p:cNvSpPr/>
          <p:nvPr/>
        </p:nvSpPr>
        <p:spPr>
          <a:xfrm>
            <a:off x="7188287" y="1658243"/>
            <a:ext cx="117729" cy="14287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898989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类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6958013" y="1829693"/>
            <a:ext cx="1905738" cy="157163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安全评估维度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336091" y="2256532"/>
            <a:ext cx="404693" cy="207169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070" b="1" dirty="0">
                <a:solidFill>
                  <a:srgbClr val="000000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GPT-4</a:t>
            </a:r>
            <a:endParaRPr lang="en-US" sz="1070" dirty="0"/>
          </a:p>
        </p:txBody>
      </p:sp>
      <p:sp>
        <p:nvSpPr>
          <p:cNvPr id="27" name="Text 23"/>
          <p:cNvSpPr/>
          <p:nvPr/>
        </p:nvSpPr>
        <p:spPr>
          <a:xfrm>
            <a:off x="787431" y="2281535"/>
            <a:ext cx="2737199" cy="157163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2023-03-14 发布，文本与图像双输入进入多模态阶段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4750594" y="2256532"/>
            <a:ext cx="699016" cy="207169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070" b="1" dirty="0">
                <a:solidFill>
                  <a:srgbClr val="000000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可预测扩展</a:t>
            </a:r>
            <a:endParaRPr lang="en-US" sz="1070" dirty="0"/>
          </a:p>
        </p:txBody>
      </p:sp>
      <p:sp>
        <p:nvSpPr>
          <p:cNvPr id="29" name="Text 25"/>
          <p:cNvSpPr/>
          <p:nvPr/>
        </p:nvSpPr>
        <p:spPr>
          <a:xfrm>
            <a:off x="5486400" y="2281535"/>
            <a:ext cx="2119122" cy="157163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用千分之一算力的模型预测旗舰模型能力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214313" y="4686300"/>
            <a:ext cx="8976836" cy="128588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675" i="1" dirty="0">
                <a:solidFill>
                  <a:srgbClr val="898989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资料来源：报告汇、中国银河证券。</a:t>
            </a:r>
            <a:endParaRPr lang="en-US" sz="675" dirty="0"/>
          </a:p>
        </p:txBody>
      </p:sp>
      <p:sp>
        <p:nvSpPr>
          <p:cNvPr id="65535" name="wm:hwcld:2026-10-23T02:30:37:30c7c9cf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</p:spPr>
      </p:sp>
      <p:sp>
        <p:nvSpPr>
          <p:cNvPr id="3" name="Shape 1"/>
          <p:cNvSpPr/>
          <p:nvPr/>
        </p:nvSpPr>
        <p:spPr>
          <a:xfrm>
            <a:off x="214313" y="772864"/>
            <a:ext cx="8715375" cy="392906"/>
          </a:xfrm>
          <a:prstGeom prst="rect">
            <a:avLst/>
          </a:prstGeom>
          <a:solidFill>
            <a:srgbClr val="FFF1EF"/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4313" y="772864"/>
            <a:ext cx="8715375" cy="39290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14313" y="1279624"/>
            <a:ext cx="2093119" cy="800100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421731" y="1279624"/>
            <a:ext cx="2093119" cy="800100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629150" y="1279624"/>
            <a:ext cx="2093119" cy="800100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836569" y="1279624"/>
            <a:ext cx="2093119" cy="800100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14313" y="2192238"/>
            <a:ext cx="4300538" cy="335756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29150" y="2192238"/>
            <a:ext cx="4300538" cy="335756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14313" y="2641848"/>
            <a:ext cx="8715375" cy="1928813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/>
        </p:nvGraphicFramePr>
        <p:xfrm>
          <a:off x="221456" y="2648992"/>
          <a:ext cx="8701088" cy="1917205"/>
        </p:xfrm>
        <a:graphic>
          <a:graphicData uri="http://schemas.openxmlformats.org/drawingml/2006/table">
            <a:tbl>
              <a:tblPr/>
              <a:tblGrid>
                <a:gridCol w="2562262"/>
                <a:gridCol w="2277517"/>
                <a:gridCol w="1868314"/>
                <a:gridCol w="1992995"/>
              </a:tblGrid>
              <a:tr h="232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维度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GPT-4o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GPT-3.5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GPT-4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379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交互模态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文本音频图像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文本为主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文本加图像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79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音频最快延迟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232 毫秒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未披露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未披露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79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音频平均延迟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320 毫秒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2800 毫秒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5400 毫秒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79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API 相对价格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降至一半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基准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基准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30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每分钟调用次数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提升 5 倍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基准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基准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 9"/>
          <p:cNvSpPr/>
          <p:nvPr/>
        </p:nvSpPr>
        <p:spPr>
          <a:xfrm>
            <a:off x="214313" y="329505"/>
            <a:ext cx="8976836" cy="328613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2080" dirty="0">
                <a:solidFill>
                  <a:srgbClr val="000000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GPT-4o：全模态实时交互带来的体验重构</a:t>
            </a:r>
            <a:endParaRPr lang="en-US" sz="2080" dirty="0"/>
          </a:p>
        </p:txBody>
      </p:sp>
      <p:sp>
        <p:nvSpPr>
          <p:cNvPr id="14" name="Text 10"/>
          <p:cNvSpPr/>
          <p:nvPr/>
        </p:nvSpPr>
        <p:spPr>
          <a:xfrm>
            <a:off x="400050" y="858589"/>
            <a:ext cx="8638365" cy="221456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070" b="1" dirty="0">
                <a:solidFill>
                  <a:srgbClr val="000000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GPT-4o 于 2024-05-13 打通文本、图像与音频的统一处理，音频最快 232 毫秒响应，并把 API 价格降至 GPT-4 Turbo 的一半。</a:t>
            </a:r>
            <a:endParaRPr lang="en-US" sz="1070" dirty="0"/>
          </a:p>
        </p:txBody>
      </p:sp>
      <p:sp>
        <p:nvSpPr>
          <p:cNvPr id="15" name="Text 11"/>
          <p:cNvSpPr/>
          <p:nvPr/>
        </p:nvSpPr>
        <p:spPr>
          <a:xfrm>
            <a:off x="334417" y="1372493"/>
            <a:ext cx="618077" cy="42862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D33941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232</a:t>
            </a:r>
            <a:endParaRPr lang="en-US" sz="2700" dirty="0"/>
          </a:p>
        </p:txBody>
      </p:sp>
      <p:sp>
        <p:nvSpPr>
          <p:cNvPr id="16" name="Text 12"/>
          <p:cNvSpPr/>
          <p:nvPr/>
        </p:nvSpPr>
        <p:spPr>
          <a:xfrm>
            <a:off x="961727" y="1658243"/>
            <a:ext cx="235458" cy="14287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898989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毫秒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335756" y="1829693"/>
            <a:ext cx="1905738" cy="157163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音频最快响应延迟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2544124" y="1372493"/>
            <a:ext cx="632793" cy="42862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D33941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320</a:t>
            </a:r>
            <a:endParaRPr lang="en-US" sz="2700" dirty="0"/>
          </a:p>
        </p:txBody>
      </p:sp>
      <p:sp>
        <p:nvSpPr>
          <p:cNvPr id="19" name="Text 15"/>
          <p:cNvSpPr/>
          <p:nvPr/>
        </p:nvSpPr>
        <p:spPr>
          <a:xfrm>
            <a:off x="3188010" y="1658243"/>
            <a:ext cx="235458" cy="14287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898989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毫秒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2543175" y="1829693"/>
            <a:ext cx="1905738" cy="157163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音频平均响应延迟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4751208" y="1372493"/>
            <a:ext cx="772597" cy="42862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D33941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50%</a:t>
            </a:r>
            <a:endParaRPr lang="en-US" sz="2700" dirty="0"/>
          </a:p>
        </p:txBody>
      </p:sp>
      <p:sp>
        <p:nvSpPr>
          <p:cNvPr id="22" name="Text 18"/>
          <p:cNvSpPr/>
          <p:nvPr/>
        </p:nvSpPr>
        <p:spPr>
          <a:xfrm>
            <a:off x="4750594" y="1829693"/>
            <a:ext cx="1905738" cy="157163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相对 GPT-4 Turbo 价格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6958850" y="1372493"/>
            <a:ext cx="206026" cy="42862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D33941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2</a:t>
            </a:r>
            <a:endParaRPr lang="en-US" sz="2700" dirty="0"/>
          </a:p>
        </p:txBody>
      </p:sp>
      <p:sp>
        <p:nvSpPr>
          <p:cNvPr id="24" name="Text 20"/>
          <p:cNvSpPr/>
          <p:nvPr/>
        </p:nvSpPr>
        <p:spPr>
          <a:xfrm>
            <a:off x="7188287" y="1658243"/>
            <a:ext cx="117729" cy="14287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898989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倍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6958013" y="1829693"/>
            <a:ext cx="1905738" cy="157163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API 速率提升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335645" y="2256532"/>
            <a:ext cx="492990" cy="207169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070" b="1" dirty="0">
                <a:solidFill>
                  <a:srgbClr val="000000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GPT-4o</a:t>
            </a:r>
            <a:endParaRPr lang="en-US" sz="1070" dirty="0"/>
          </a:p>
        </p:txBody>
      </p:sp>
      <p:sp>
        <p:nvSpPr>
          <p:cNvPr id="27" name="Text 23"/>
          <p:cNvSpPr/>
          <p:nvPr/>
        </p:nvSpPr>
        <p:spPr>
          <a:xfrm>
            <a:off x="871314" y="2281535"/>
            <a:ext cx="2590038" cy="157163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文本、图像、音频统一处理，对所有用户免费开放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4750594" y="2256532"/>
            <a:ext cx="838819" cy="207169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070" b="1" dirty="0">
                <a:solidFill>
                  <a:srgbClr val="000000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音频延迟对比</a:t>
            </a:r>
            <a:endParaRPr lang="en-US" sz="1070" dirty="0"/>
          </a:p>
        </p:txBody>
      </p:sp>
      <p:sp>
        <p:nvSpPr>
          <p:cNvPr id="29" name="Text 25"/>
          <p:cNvSpPr/>
          <p:nvPr/>
        </p:nvSpPr>
        <p:spPr>
          <a:xfrm>
            <a:off x="5623247" y="2281535"/>
            <a:ext cx="2266283" cy="157163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GPT-3.5 为 2800 毫秒、GPT-4 为 5400 毫秒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214313" y="4686300"/>
            <a:ext cx="8976836" cy="128588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675" i="1" dirty="0">
                <a:solidFill>
                  <a:srgbClr val="898989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资料来源：中国银河证券、腾讯云 GPT 演进史、博客园。</a:t>
            </a:r>
            <a:endParaRPr lang="en-US" sz="675" dirty="0"/>
          </a:p>
        </p:txBody>
      </p:sp>
      <p:sp>
        <p:nvSpPr>
          <p:cNvPr id="65535" name="wm:hwcld:2026-10-23T02:30:37:30c7c9cf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</p:spPr>
      </p:sp>
      <p:sp>
        <p:nvSpPr>
          <p:cNvPr id="3" name="Shape 1"/>
          <p:cNvSpPr/>
          <p:nvPr/>
        </p:nvSpPr>
        <p:spPr>
          <a:xfrm>
            <a:off x="214313" y="772864"/>
            <a:ext cx="8715375" cy="392906"/>
          </a:xfrm>
          <a:prstGeom prst="rect">
            <a:avLst/>
          </a:prstGeom>
          <a:solidFill>
            <a:srgbClr val="FFF1EF"/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4313" y="772864"/>
            <a:ext cx="8715375" cy="39290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14313" y="1279624"/>
            <a:ext cx="2093119" cy="800100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421731" y="1279624"/>
            <a:ext cx="2093119" cy="800100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629150" y="1279624"/>
            <a:ext cx="2093119" cy="800100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836569" y="1279624"/>
            <a:ext cx="2093119" cy="800100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14313" y="2192238"/>
            <a:ext cx="4300538" cy="335756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29150" y="2192238"/>
            <a:ext cx="4300538" cy="335756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14313" y="2641848"/>
            <a:ext cx="8715375" cy="1928813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/>
        </p:nvGraphicFramePr>
        <p:xfrm>
          <a:off x="221456" y="2648992"/>
          <a:ext cx="8701088" cy="1917205"/>
        </p:xfrm>
        <a:graphic>
          <a:graphicData uri="http://schemas.openxmlformats.org/drawingml/2006/table">
            <a:tbl>
              <a:tblPr/>
              <a:tblGrid>
                <a:gridCol w="2838748"/>
                <a:gridCol w="1703226"/>
                <a:gridCol w="1703226"/>
                <a:gridCol w="2455887"/>
              </a:tblGrid>
              <a:tr h="232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维度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GPT-4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o1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o3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379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推理方式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单次前向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长思维链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思维链加搜索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79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AIME 数学竞赛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约 13%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约 83%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96.7%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79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ARC-AGI 高算力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未披露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未披露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87.5%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79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算力档位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单一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单一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低中高三档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30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高算力单任务成本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较低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较高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超过 1000 美元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214313" y="329505"/>
            <a:ext cx="8976836" cy="328613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2080" dirty="0">
                <a:solidFill>
                  <a:srgbClr val="000000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推理模型的崛起：推理时计算开启第三增长轴</a:t>
            </a:r>
            <a:endParaRPr lang="en-US" sz="2080" dirty="0"/>
          </a:p>
        </p:txBody>
      </p:sp>
      <p:sp>
        <p:nvSpPr>
          <p:cNvPr id="14" name="Text 10"/>
          <p:cNvSpPr/>
          <p:nvPr/>
        </p:nvSpPr>
        <p:spPr>
          <a:xfrm>
            <a:off x="400050" y="858589"/>
            <a:ext cx="8638365" cy="221456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070" b="1" dirty="0">
                <a:solidFill>
                  <a:srgbClr val="000000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o1 于 2024-09-12 引入长思维链，把推理变成可变算力的搜索过程：AIME 数学正确率从 GPT-4 的约 13% 提升到 o3 的 96.7%。</a:t>
            </a:r>
            <a:endParaRPr lang="en-US" sz="1070" dirty="0"/>
          </a:p>
        </p:txBody>
      </p:sp>
      <p:sp>
        <p:nvSpPr>
          <p:cNvPr id="15" name="Text 11"/>
          <p:cNvSpPr/>
          <p:nvPr/>
        </p:nvSpPr>
        <p:spPr>
          <a:xfrm>
            <a:off x="335031" y="1372493"/>
            <a:ext cx="1081635" cy="42862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D33941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96.7%</a:t>
            </a:r>
            <a:endParaRPr lang="en-US" sz="2700" dirty="0"/>
          </a:p>
        </p:txBody>
      </p:sp>
      <p:sp>
        <p:nvSpPr>
          <p:cNvPr id="16" name="Text 12"/>
          <p:cNvSpPr/>
          <p:nvPr/>
        </p:nvSpPr>
        <p:spPr>
          <a:xfrm>
            <a:off x="335756" y="1829693"/>
            <a:ext cx="1905738" cy="157163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o3 AIME 数学得分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2541780" y="1372493"/>
            <a:ext cx="1044845" cy="42862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D33941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87.5%</a:t>
            </a:r>
            <a:endParaRPr lang="en-US" sz="2700" dirty="0"/>
          </a:p>
        </p:txBody>
      </p:sp>
      <p:sp>
        <p:nvSpPr>
          <p:cNvPr id="18" name="Text 14"/>
          <p:cNvSpPr/>
          <p:nvPr/>
        </p:nvSpPr>
        <p:spPr>
          <a:xfrm>
            <a:off x="2543175" y="1829693"/>
            <a:ext cx="1905738" cy="157163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o3 高算力 ARC-AGI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4750761" y="1372493"/>
            <a:ext cx="1096351" cy="42862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D33941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5000+</a:t>
            </a:r>
            <a:endParaRPr lang="en-US" sz="2700" dirty="0"/>
          </a:p>
        </p:txBody>
      </p:sp>
      <p:sp>
        <p:nvSpPr>
          <p:cNvPr id="20" name="Text 16"/>
          <p:cNvSpPr/>
          <p:nvPr/>
        </p:nvSpPr>
        <p:spPr>
          <a:xfrm>
            <a:off x="5842136" y="1658243"/>
            <a:ext cx="316397" cy="14287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898989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token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4750594" y="1829693"/>
            <a:ext cx="1905738" cy="157163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o3 思考 token 量下限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6959687" y="1372493"/>
            <a:ext cx="382619" cy="42862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D33941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10</a:t>
            </a:r>
            <a:endParaRPr lang="en-US" sz="2700" dirty="0"/>
          </a:p>
        </p:txBody>
      </p:sp>
      <p:sp>
        <p:nvSpPr>
          <p:cNvPr id="23" name="Text 19"/>
          <p:cNvSpPr/>
          <p:nvPr/>
        </p:nvSpPr>
        <p:spPr>
          <a:xfrm>
            <a:off x="7360853" y="1658243"/>
            <a:ext cx="478274" cy="14287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898989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至 100 倍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6958013" y="1829693"/>
            <a:ext cx="1905738" cy="157163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推理成本相对标准档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337319" y="2256532"/>
            <a:ext cx="147161" cy="207169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070" b="1" dirty="0">
                <a:solidFill>
                  <a:srgbClr val="000000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o1</a:t>
            </a:r>
            <a:endParaRPr lang="en-US" sz="1070" dirty="0"/>
          </a:p>
        </p:txBody>
      </p:sp>
      <p:sp>
        <p:nvSpPr>
          <p:cNvPr id="26" name="Text 22"/>
          <p:cNvSpPr/>
          <p:nvPr/>
        </p:nvSpPr>
        <p:spPr>
          <a:xfrm>
            <a:off x="537400" y="2281535"/>
            <a:ext cx="1920454" cy="157163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2024-09-12 发布，引入长思维链推理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4750817" y="2256532"/>
            <a:ext cx="169235" cy="207169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070" b="1" dirty="0">
                <a:solidFill>
                  <a:srgbClr val="000000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o3</a:t>
            </a:r>
            <a:endParaRPr lang="en-US" sz="1070" dirty="0"/>
          </a:p>
        </p:txBody>
      </p:sp>
      <p:sp>
        <p:nvSpPr>
          <p:cNvPr id="28" name="Text 24"/>
          <p:cNvSpPr/>
          <p:nvPr/>
        </p:nvSpPr>
        <p:spPr>
          <a:xfrm>
            <a:off x="4972776" y="2281535"/>
            <a:ext cx="2045541" cy="157163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AIME 96.7%、ARC-AGI 高算力档 87.5%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214313" y="4686300"/>
            <a:ext cx="8976836" cy="128588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675" i="1" dirty="0">
                <a:solidFill>
                  <a:srgbClr val="898989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资料来源：博客园、腾讯云 GPT 演进史、报告汇。</a:t>
            </a:r>
            <a:endParaRPr lang="en-US" sz="675" dirty="0"/>
          </a:p>
        </p:txBody>
      </p:sp>
      <p:sp>
        <p:nvSpPr>
          <p:cNvPr id="65535" name="wm:hwcld:2026-10-23T02:30:37:30c7c9cf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</p:spPr>
      </p:sp>
      <p:sp>
        <p:nvSpPr>
          <p:cNvPr id="3" name="Shape 1"/>
          <p:cNvSpPr/>
          <p:nvPr/>
        </p:nvSpPr>
        <p:spPr>
          <a:xfrm>
            <a:off x="214313" y="772864"/>
            <a:ext cx="8715375" cy="392906"/>
          </a:xfrm>
          <a:prstGeom prst="rect">
            <a:avLst/>
          </a:prstGeom>
          <a:solidFill>
            <a:srgbClr val="FFF1EF"/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4313" y="772864"/>
            <a:ext cx="8715375" cy="39290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14313" y="1279624"/>
            <a:ext cx="2093119" cy="800100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421731" y="1279624"/>
            <a:ext cx="2093119" cy="800100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629150" y="1279624"/>
            <a:ext cx="2093119" cy="800100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836569" y="1279624"/>
            <a:ext cx="2093119" cy="800100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14313" y="2192238"/>
            <a:ext cx="4300538" cy="335756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29150" y="2192238"/>
            <a:ext cx="4300538" cy="335756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14313" y="2640062"/>
            <a:ext cx="8715375" cy="407194"/>
          </a:xfrm>
          <a:prstGeom prst="rect">
            <a:avLst/>
          </a:prstGeom>
          <a:solidFill>
            <a:srgbClr val="F5F5F5"/>
          </a:solidFill>
          <a:ln w="6191">
            <a:solidFill>
              <a:srgbClr val="DDDDDD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313" y="3421856"/>
            <a:ext cx="8715375" cy="11501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14313" y="329505"/>
            <a:ext cx="8976836" cy="328613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2080" dirty="0">
                <a:solidFill>
                  <a:srgbClr val="000000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规模总表：各代模型参数与训练数据对比</a:t>
            </a:r>
            <a:endParaRPr lang="en-US" sz="2080" dirty="0"/>
          </a:p>
        </p:txBody>
      </p:sp>
      <p:sp>
        <p:nvSpPr>
          <p:cNvPr id="14" name="Text 10"/>
          <p:cNvSpPr/>
          <p:nvPr/>
        </p:nvSpPr>
        <p:spPr>
          <a:xfrm>
            <a:off x="400050" y="858589"/>
            <a:ext cx="8638365" cy="221456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070" b="1" dirty="0">
                <a:solidFill>
                  <a:srgbClr val="000000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参数从 GPT-1 的 1.17 亿升至 GPT-3 的 1750 亿，Chinchilla 则用 70B 参数配 1.4 万亿 token 改写配比。</a:t>
            </a:r>
            <a:endParaRPr lang="en-US" sz="1070" dirty="0"/>
          </a:p>
        </p:txBody>
      </p:sp>
      <p:sp>
        <p:nvSpPr>
          <p:cNvPr id="15" name="Text 11"/>
          <p:cNvSpPr/>
          <p:nvPr/>
        </p:nvSpPr>
        <p:spPr>
          <a:xfrm>
            <a:off x="334640" y="1372493"/>
            <a:ext cx="625435" cy="42862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D33941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1.17</a:t>
            </a:r>
            <a:endParaRPr lang="en-US" sz="2700" dirty="0"/>
          </a:p>
        </p:txBody>
      </p:sp>
      <p:sp>
        <p:nvSpPr>
          <p:cNvPr id="16" name="Text 12"/>
          <p:cNvSpPr/>
          <p:nvPr/>
        </p:nvSpPr>
        <p:spPr>
          <a:xfrm>
            <a:off x="969318" y="1658243"/>
            <a:ext cx="353187" cy="14287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898989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亿参数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335756" y="1829693"/>
            <a:ext cx="1905738" cy="157163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GPT-1（2018-06）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2542561" y="1372493"/>
            <a:ext cx="367903" cy="42862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D33941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15</a:t>
            </a:r>
            <a:endParaRPr lang="en-US" sz="2700" dirty="0"/>
          </a:p>
        </p:txBody>
      </p:sp>
      <p:sp>
        <p:nvSpPr>
          <p:cNvPr id="19" name="Text 15"/>
          <p:cNvSpPr/>
          <p:nvPr/>
        </p:nvSpPr>
        <p:spPr>
          <a:xfrm>
            <a:off x="2927710" y="1658243"/>
            <a:ext cx="353187" cy="14287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898989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亿参数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2543175" y="1829693"/>
            <a:ext cx="1905738" cy="157163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GPT-2（2019-02）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4750929" y="1372493"/>
            <a:ext cx="787313" cy="42862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D33941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1750</a:t>
            </a:r>
            <a:endParaRPr lang="en-US" sz="2700" dirty="0"/>
          </a:p>
        </p:txBody>
      </p:sp>
      <p:sp>
        <p:nvSpPr>
          <p:cNvPr id="22" name="Text 18"/>
          <p:cNvSpPr/>
          <p:nvPr/>
        </p:nvSpPr>
        <p:spPr>
          <a:xfrm>
            <a:off x="5544220" y="1658243"/>
            <a:ext cx="353187" cy="14287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898989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亿参数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4750594" y="1829693"/>
            <a:ext cx="1905738" cy="157163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GPT-3（2020-05）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6957566" y="1372493"/>
            <a:ext cx="492990" cy="42862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D33941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1.4</a:t>
            </a:r>
            <a:endParaRPr lang="en-US" sz="2700" dirty="0"/>
          </a:p>
        </p:txBody>
      </p:sp>
      <p:sp>
        <p:nvSpPr>
          <p:cNvPr id="25" name="Text 21"/>
          <p:cNvSpPr/>
          <p:nvPr/>
        </p:nvSpPr>
        <p:spPr>
          <a:xfrm>
            <a:off x="7464326" y="1658243"/>
            <a:ext cx="235458" cy="14287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898989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万亿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958013" y="1829693"/>
            <a:ext cx="1905738" cy="157163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Chinchilla 训练 token 量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337431" y="2256532"/>
            <a:ext cx="684300" cy="207169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070" b="1" dirty="0">
                <a:solidFill>
                  <a:srgbClr val="000000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Chinchilla</a:t>
            </a:r>
            <a:endParaRPr lang="en-US" sz="1070" dirty="0"/>
          </a:p>
        </p:txBody>
      </p:sp>
      <p:sp>
        <p:nvSpPr>
          <p:cNvPr id="28" name="Text 24"/>
          <p:cNvSpPr/>
          <p:nvPr/>
        </p:nvSpPr>
        <p:spPr>
          <a:xfrm>
            <a:off x="1060400" y="2281535"/>
            <a:ext cx="2097048" cy="157163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70B 参数配 1.4 万亿 token 反超更大模型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4752268" y="2256532"/>
            <a:ext cx="397335" cy="207169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070" b="1" dirty="0">
                <a:solidFill>
                  <a:srgbClr val="000000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GPT-3</a:t>
            </a:r>
            <a:endParaRPr lang="en-US" sz="1070" dirty="0"/>
          </a:p>
        </p:txBody>
      </p:sp>
      <p:sp>
        <p:nvSpPr>
          <p:cNvPr id="30" name="Text 26"/>
          <p:cNvSpPr/>
          <p:nvPr/>
        </p:nvSpPr>
        <p:spPr>
          <a:xfrm>
            <a:off x="5196687" y="2281535"/>
            <a:ext cx="2214777" cy="157163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1750 亿参数、300B token 确立千亿级规模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364331" y="2732931"/>
            <a:ext cx="8667798" cy="221456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参数从 GPT-1 的 1.17 亿升至 GPT-3 的 1750 亿，增幅约 1496 倍；GPT-2 训练数据约为 GPT-1 的 8 倍。</a:t>
            </a:r>
            <a:endParaRPr lang="en-US" sz="1070" dirty="0"/>
          </a:p>
        </p:txBody>
      </p:sp>
      <p:sp>
        <p:nvSpPr>
          <p:cNvPr id="32" name="Text 28"/>
          <p:cNvSpPr/>
          <p:nvPr/>
        </p:nvSpPr>
        <p:spPr>
          <a:xfrm>
            <a:off x="214313" y="3159323"/>
            <a:ext cx="8976836" cy="264319"/>
          </a:xfrm>
          <a:prstGeom prst="rect">
            <a:avLst/>
          </a:prstGeom>
        </p:spPr>
        <p:txBody>
          <a:bodyPr wrap="none" lIns="0" tIns="0" rIns="0" bIns="48578" rtlCol="0" anchor="t">
            <a:noAutofit/>
          </a:bodyPr>
          <a:lstStyle/>
          <a:p>
            <a:pPr marL="0" indent="0" algn="l">
              <a:buNone/>
            </a:pPr>
            <a:r>
              <a:rPr lang="en-US" sz="1070" b="1" dirty="0">
                <a:solidFill>
                  <a:srgbClr val="000000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各代模型参数量对比（单位：亿参数）</a:t>
            </a:r>
            <a:endParaRPr lang="en-US" sz="1070" dirty="0"/>
          </a:p>
        </p:txBody>
      </p:sp>
      <p:sp>
        <p:nvSpPr>
          <p:cNvPr id="33" name="Text 29"/>
          <p:cNvSpPr/>
          <p:nvPr/>
        </p:nvSpPr>
        <p:spPr>
          <a:xfrm>
            <a:off x="214313" y="4686300"/>
            <a:ext cx="8976836" cy="128588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675" i="1" dirty="0">
                <a:solidFill>
                  <a:srgbClr val="898989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资料来源：西藏网信办、腾讯云 GPT-2、腾讯云 GPT-3、CSDN DevPress、腾讯云 GPT 演进史。</a:t>
            </a:r>
            <a:endParaRPr lang="en-US" sz="675" dirty="0"/>
          </a:p>
        </p:txBody>
      </p:sp>
      <p:sp>
        <p:nvSpPr>
          <p:cNvPr id="65535" name="wm:hwcld:2026-10-23T02:30:37:30c7c9cf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</p:spPr>
      </p:sp>
      <p:sp>
        <p:nvSpPr>
          <p:cNvPr id="3" name="Shape 1"/>
          <p:cNvSpPr/>
          <p:nvPr/>
        </p:nvSpPr>
        <p:spPr>
          <a:xfrm>
            <a:off x="214313" y="772864"/>
            <a:ext cx="8715375" cy="392906"/>
          </a:xfrm>
          <a:prstGeom prst="rect">
            <a:avLst/>
          </a:prstGeom>
          <a:solidFill>
            <a:srgbClr val="FFF1EF"/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4313" y="772864"/>
            <a:ext cx="8715375" cy="39290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14313" y="1279624"/>
            <a:ext cx="2093119" cy="800100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421731" y="1279624"/>
            <a:ext cx="2093119" cy="800100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629150" y="1279624"/>
            <a:ext cx="2093119" cy="800100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836569" y="1279624"/>
            <a:ext cx="2093119" cy="800100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14313" y="2193578"/>
            <a:ext cx="8715375" cy="407194"/>
          </a:xfrm>
          <a:prstGeom prst="rect">
            <a:avLst/>
          </a:prstGeom>
          <a:solidFill>
            <a:srgbClr val="F5F5F5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14313" y="2712839"/>
            <a:ext cx="4300538" cy="335756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29150" y="2712839"/>
            <a:ext cx="4300538" cy="335756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14313" y="3159323"/>
            <a:ext cx="8715375" cy="1414463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graphicFrame>
        <p:nvGraphicFramePr>
          <p:cNvPr id="15" name="Table 0"/>
          <p:cNvGraphicFramePr>
            <a:graphicFrameLocks noGrp="1"/>
          </p:cNvGraphicFramePr>
          <p:nvPr/>
        </p:nvGraphicFramePr>
        <p:xfrm>
          <a:off x="221456" y="3166467"/>
          <a:ext cx="8701089" cy="1396602"/>
        </p:xfrm>
        <a:graphic>
          <a:graphicData uri="http://schemas.openxmlformats.org/drawingml/2006/table">
            <a:tbl>
              <a:tblPr/>
              <a:tblGrid>
                <a:gridCol w="2240012"/>
                <a:gridCol w="1593838"/>
                <a:gridCol w="1703450"/>
                <a:gridCol w="1460116"/>
                <a:gridCol w="1703673"/>
              </a:tblGrid>
              <a:tr h="232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基准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GPT-4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GPT-4o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o1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o3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921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AIME 数学竞赛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约 13%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未披露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约 83%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96.7%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1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ARC-AGI 高算力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未披露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未披露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未披露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87.5%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1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音频平均延迟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5400 毫秒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320 毫秒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未披露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未披露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9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能力评估重心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知识问答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多模态交互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长思维链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可验证推理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 10"/>
          <p:cNvSpPr/>
          <p:nvPr/>
        </p:nvSpPr>
        <p:spPr>
          <a:xfrm>
            <a:off x="214313" y="329505"/>
            <a:ext cx="8976836" cy="328613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2080" dirty="0">
                <a:solidFill>
                  <a:srgbClr val="000000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能力基准对比：多模态、推理与专业考试表现</a:t>
            </a:r>
            <a:endParaRPr lang="en-US" sz="2080" dirty="0"/>
          </a:p>
        </p:txBody>
      </p:sp>
      <p:sp>
        <p:nvSpPr>
          <p:cNvPr id="13" name="Text 11"/>
          <p:cNvSpPr/>
          <p:nvPr/>
        </p:nvSpPr>
        <p:spPr>
          <a:xfrm>
            <a:off x="400050" y="858589"/>
            <a:ext cx="8638365" cy="221456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070" b="1" dirty="0">
                <a:solidFill>
                  <a:srgbClr val="000000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能力评价重心从语言流畅转向可验证推理，o3 把 AIME 推到 96.7%、ARC-AGI 高算力档推到 87.5%。</a:t>
            </a:r>
            <a:endParaRPr lang="en-US" sz="1070" dirty="0"/>
          </a:p>
        </p:txBody>
      </p:sp>
      <p:sp>
        <p:nvSpPr>
          <p:cNvPr id="16" name="Text 12"/>
          <p:cNvSpPr/>
          <p:nvPr/>
        </p:nvSpPr>
        <p:spPr>
          <a:xfrm>
            <a:off x="335421" y="1372493"/>
            <a:ext cx="706374" cy="42862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D33941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13%</a:t>
            </a:r>
            <a:endParaRPr lang="en-US" sz="2700" dirty="0"/>
          </a:p>
        </p:txBody>
      </p:sp>
      <p:sp>
        <p:nvSpPr>
          <p:cNvPr id="17" name="Text 13"/>
          <p:cNvSpPr/>
          <p:nvPr/>
        </p:nvSpPr>
        <p:spPr>
          <a:xfrm>
            <a:off x="335756" y="1829693"/>
            <a:ext cx="1905738" cy="157163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GPT-4 AIME 得分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2544068" y="1372493"/>
            <a:ext cx="757880" cy="42862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D33941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83%</a:t>
            </a:r>
            <a:endParaRPr lang="en-US" sz="2700" dirty="0"/>
          </a:p>
        </p:txBody>
      </p:sp>
      <p:sp>
        <p:nvSpPr>
          <p:cNvPr id="19" name="Text 15"/>
          <p:cNvSpPr/>
          <p:nvPr/>
        </p:nvSpPr>
        <p:spPr>
          <a:xfrm>
            <a:off x="2543175" y="1829693"/>
            <a:ext cx="1905738" cy="157163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o1 AIME 得分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4749868" y="1372493"/>
            <a:ext cx="1081635" cy="42862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D33941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96.7%</a:t>
            </a:r>
            <a:endParaRPr lang="en-US" sz="2700" dirty="0"/>
          </a:p>
        </p:txBody>
      </p:sp>
      <p:sp>
        <p:nvSpPr>
          <p:cNvPr id="21" name="Text 17"/>
          <p:cNvSpPr/>
          <p:nvPr/>
        </p:nvSpPr>
        <p:spPr>
          <a:xfrm>
            <a:off x="4750594" y="1829693"/>
            <a:ext cx="1905738" cy="157163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o3 AIME 得分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6956617" y="1372493"/>
            <a:ext cx="1044845" cy="42862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D33941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87.5%</a:t>
            </a:r>
            <a:endParaRPr lang="en-US" sz="2700" dirty="0"/>
          </a:p>
        </p:txBody>
      </p:sp>
      <p:sp>
        <p:nvSpPr>
          <p:cNvPr id="23" name="Text 19"/>
          <p:cNvSpPr/>
          <p:nvPr/>
        </p:nvSpPr>
        <p:spPr>
          <a:xfrm>
            <a:off x="6958013" y="1829693"/>
            <a:ext cx="1905738" cy="157163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o3 高算力 ARC-AGI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364331" y="2286446"/>
            <a:ext cx="8667798" cy="221456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o3 高算力档相对标准档在 AIME 上提升 32 个百分点，但推理成本上升 10 至 100 倍。</a:t>
            </a:r>
            <a:endParaRPr lang="en-US" sz="1070" dirty="0"/>
          </a:p>
        </p:txBody>
      </p:sp>
      <p:sp>
        <p:nvSpPr>
          <p:cNvPr id="25" name="Text 21"/>
          <p:cNvSpPr/>
          <p:nvPr/>
        </p:nvSpPr>
        <p:spPr>
          <a:xfrm>
            <a:off x="337319" y="2777133"/>
            <a:ext cx="147161" cy="207169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070" b="1" dirty="0">
                <a:solidFill>
                  <a:srgbClr val="000000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o1</a:t>
            </a:r>
            <a:endParaRPr lang="en-US" sz="1070" dirty="0"/>
          </a:p>
        </p:txBody>
      </p:sp>
      <p:sp>
        <p:nvSpPr>
          <p:cNvPr id="26" name="Text 22"/>
          <p:cNvSpPr/>
          <p:nvPr/>
        </p:nvSpPr>
        <p:spPr>
          <a:xfrm>
            <a:off x="538907" y="2802136"/>
            <a:ext cx="2119122" cy="157163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长思维链把推理变成可变算力的搜索过程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4750817" y="2777133"/>
            <a:ext cx="169235" cy="207169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070" b="1" dirty="0">
                <a:solidFill>
                  <a:srgbClr val="000000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o3</a:t>
            </a:r>
            <a:endParaRPr lang="en-US" sz="1070" dirty="0"/>
          </a:p>
        </p:txBody>
      </p:sp>
      <p:sp>
        <p:nvSpPr>
          <p:cNvPr id="28" name="Text 24"/>
          <p:cNvSpPr/>
          <p:nvPr/>
        </p:nvSpPr>
        <p:spPr>
          <a:xfrm>
            <a:off x="4972776" y="2802136"/>
            <a:ext cx="2045541" cy="157163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AIME 96.7%，ARC-AGI 高算力档 87.5%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214313" y="4686300"/>
            <a:ext cx="8976836" cy="128588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675" i="1" dirty="0">
                <a:solidFill>
                  <a:srgbClr val="898989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资料来源：博客园、报告汇、中国银河证券。</a:t>
            </a:r>
            <a:endParaRPr lang="en-US" sz="675" dirty="0"/>
          </a:p>
        </p:txBody>
      </p:sp>
      <p:sp>
        <p:nvSpPr>
          <p:cNvPr id="65535" name="wm:hwcld:2026-10-23T02:30:37:30c7c9cf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</p:spPr>
      </p:sp>
      <p:sp>
        <p:nvSpPr>
          <p:cNvPr id="3" name="Shape 1"/>
          <p:cNvSpPr/>
          <p:nvPr/>
        </p:nvSpPr>
        <p:spPr>
          <a:xfrm>
            <a:off x="214313" y="772418"/>
            <a:ext cx="8715375" cy="614363"/>
          </a:xfrm>
          <a:prstGeom prst="rect">
            <a:avLst/>
          </a:prstGeom>
          <a:solidFill>
            <a:srgbClr val="FFF1EF"/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4313" y="772418"/>
            <a:ext cx="8715375" cy="614363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14313" y="1500188"/>
            <a:ext cx="2093119" cy="800100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421731" y="1500188"/>
            <a:ext cx="2093119" cy="800100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629150" y="1500188"/>
            <a:ext cx="2093119" cy="800100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836569" y="1500188"/>
            <a:ext cx="2093119" cy="800100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14313" y="2412802"/>
            <a:ext cx="4300538" cy="335756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29150" y="2412802"/>
            <a:ext cx="4300538" cy="335756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14313" y="2859286"/>
            <a:ext cx="8715375" cy="1714500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graphicFrame>
        <p:nvGraphicFramePr>
          <p:cNvPr id="16" name="Table 0"/>
          <p:cNvGraphicFramePr>
            <a:graphicFrameLocks noGrp="1"/>
          </p:cNvGraphicFramePr>
          <p:nvPr/>
        </p:nvGraphicFramePr>
        <p:xfrm>
          <a:off x="221456" y="2866430"/>
          <a:ext cx="8701088" cy="1696640"/>
        </p:xfrm>
        <a:graphic>
          <a:graphicData uri="http://schemas.openxmlformats.org/drawingml/2006/table">
            <a:tbl>
              <a:tblPr/>
              <a:tblGrid>
                <a:gridCol w="2633030"/>
                <a:gridCol w="2682590"/>
                <a:gridCol w="3385468"/>
              </a:tblGrid>
              <a:tr h="232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维度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GPT-4.5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GPT-5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936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发布时间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2025-02-27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2025-08-07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36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上下文长度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未披露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400K token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36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架构形态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单一模型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统一系统路由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36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推理调度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单次前向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快慢双档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幻觉表现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改善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官方称明显减少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 9"/>
          <p:cNvSpPr/>
          <p:nvPr/>
        </p:nvSpPr>
        <p:spPr>
          <a:xfrm>
            <a:off x="214313" y="329505"/>
            <a:ext cx="8976836" cy="328613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2080" dirty="0">
                <a:solidFill>
                  <a:srgbClr val="000000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GPT-4.5 与 GPT-5：统一架构与路由式推理</a:t>
            </a:r>
            <a:endParaRPr lang="en-US" sz="2080" dirty="0"/>
          </a:p>
        </p:txBody>
      </p:sp>
      <p:sp>
        <p:nvSpPr>
          <p:cNvPr id="14" name="Text 10"/>
          <p:cNvSpPr/>
          <p:nvPr/>
        </p:nvSpPr>
        <p:spPr>
          <a:xfrm>
            <a:off x="400050" y="858143"/>
            <a:ext cx="8806101" cy="442912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70" b="1" dirty="0">
                <a:solidFill>
                  <a:srgbClr val="000000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GPT-4.5（2025-02-27）与 GPT-5（2025-08-07）把上下文推到 400K token，并以基础模型加深度推理加实时路由的统一架构提供快慢双</a:t>
            </a:r>
            <a:endParaRPr lang="en-US" sz="1070" dirty="0"/>
          </a:p>
          <a:p>
            <a:pPr marL="0" indent="0" algn="l">
              <a:buNone/>
            </a:pPr>
            <a:r>
              <a:rPr lang="en-US" sz="1070" b="1" dirty="0">
                <a:solidFill>
                  <a:srgbClr val="000000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档。</a:t>
            </a:r>
            <a:endParaRPr lang="en-US" sz="1070" dirty="0"/>
          </a:p>
        </p:txBody>
      </p:sp>
      <p:sp>
        <p:nvSpPr>
          <p:cNvPr id="15" name="Text 11"/>
          <p:cNvSpPr/>
          <p:nvPr/>
        </p:nvSpPr>
        <p:spPr>
          <a:xfrm>
            <a:off x="336203" y="1593056"/>
            <a:ext cx="1125784" cy="42862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D33941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8月7日</a:t>
            </a:r>
            <a:endParaRPr lang="en-US" sz="2700" dirty="0"/>
          </a:p>
        </p:txBody>
      </p:sp>
      <p:sp>
        <p:nvSpPr>
          <p:cNvPr id="12" name="Text 12"/>
          <p:cNvSpPr/>
          <p:nvPr/>
        </p:nvSpPr>
        <p:spPr>
          <a:xfrm>
            <a:off x="335756" y="2050256"/>
            <a:ext cx="1905738" cy="157163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GPT-5 发布时间（2025）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2544682" y="1593056"/>
            <a:ext cx="912400" cy="42862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D33941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400K</a:t>
            </a:r>
            <a:endParaRPr lang="en-US" sz="2700" dirty="0"/>
          </a:p>
        </p:txBody>
      </p:sp>
      <p:sp>
        <p:nvSpPr>
          <p:cNvPr id="18" name="Text 14"/>
          <p:cNvSpPr/>
          <p:nvPr/>
        </p:nvSpPr>
        <p:spPr>
          <a:xfrm>
            <a:off x="3458803" y="1878806"/>
            <a:ext cx="316397" cy="14287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898989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token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2543175" y="2050256"/>
            <a:ext cx="1905738" cy="157163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GPT-5 上下文长度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4752156" y="1593056"/>
            <a:ext cx="875609" cy="42862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D33941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2800</a:t>
            </a:r>
            <a:endParaRPr lang="en-US" sz="2700" dirty="0"/>
          </a:p>
        </p:txBody>
      </p:sp>
      <p:sp>
        <p:nvSpPr>
          <p:cNvPr id="21" name="Text 17"/>
          <p:cNvSpPr/>
          <p:nvPr/>
        </p:nvSpPr>
        <p:spPr>
          <a:xfrm>
            <a:off x="5632400" y="1878806"/>
            <a:ext cx="353187" cy="14287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898989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亿参数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4750594" y="2050256"/>
            <a:ext cx="1905738" cy="157163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GPT-5 单次激活（二手估算）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6958347" y="1593056"/>
            <a:ext cx="1309735" cy="42862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D33941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2月27日</a:t>
            </a:r>
            <a:endParaRPr lang="en-US" sz="2700" dirty="0"/>
          </a:p>
        </p:txBody>
      </p:sp>
      <p:sp>
        <p:nvSpPr>
          <p:cNvPr id="24" name="Text 20"/>
          <p:cNvSpPr/>
          <p:nvPr/>
        </p:nvSpPr>
        <p:spPr>
          <a:xfrm>
            <a:off x="6958013" y="2050256"/>
            <a:ext cx="1905738" cy="157163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GPT-4.5 发布时间（2025）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337431" y="2477095"/>
            <a:ext cx="397335" cy="207169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070" b="1" dirty="0">
                <a:solidFill>
                  <a:srgbClr val="000000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GPT-5</a:t>
            </a:r>
            <a:endParaRPr lang="en-US" sz="1070" dirty="0"/>
          </a:p>
        </p:txBody>
      </p:sp>
      <p:sp>
        <p:nvSpPr>
          <p:cNvPr id="26" name="Text 22"/>
          <p:cNvSpPr/>
          <p:nvPr/>
        </p:nvSpPr>
        <p:spPr>
          <a:xfrm>
            <a:off x="782575" y="2502098"/>
            <a:ext cx="2052899" cy="157163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2025-08-07 发布，统一路由与快慢双档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4750594" y="2477095"/>
            <a:ext cx="699016" cy="207169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070" b="1" dirty="0">
                <a:solidFill>
                  <a:srgbClr val="000000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上下文对比</a:t>
            </a:r>
            <a:endParaRPr lang="en-US" sz="1070" dirty="0"/>
          </a:p>
        </p:txBody>
      </p:sp>
      <p:sp>
        <p:nvSpPr>
          <p:cNvPr id="28" name="Text 24"/>
          <p:cNvSpPr/>
          <p:nvPr/>
        </p:nvSpPr>
        <p:spPr>
          <a:xfrm>
            <a:off x="5484893" y="2502098"/>
            <a:ext cx="2177987" cy="157163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GPT-4o 为 128K、Gemini 为 1000K token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214313" y="4686300"/>
            <a:ext cx="8976836" cy="128588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675" i="1" dirty="0">
                <a:solidFill>
                  <a:srgbClr val="898989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资料来源：博客园、OpenAI 官方、新京报。</a:t>
            </a:r>
            <a:endParaRPr lang="en-US" sz="675" dirty="0"/>
          </a:p>
        </p:txBody>
      </p:sp>
      <p:sp>
        <p:nvSpPr>
          <p:cNvPr id="65535" name="wm:hwcld:2026-10-23T02:30:37:30c7c9cf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</p:spPr>
      </p:sp>
      <p:sp>
        <p:nvSpPr>
          <p:cNvPr id="3" name="Shape 1"/>
          <p:cNvSpPr/>
          <p:nvPr/>
        </p:nvSpPr>
        <p:spPr>
          <a:xfrm>
            <a:off x="214313" y="772864"/>
            <a:ext cx="8715375" cy="392906"/>
          </a:xfrm>
          <a:prstGeom prst="rect">
            <a:avLst/>
          </a:prstGeom>
          <a:solidFill>
            <a:srgbClr val="FFF1EF"/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4313" y="772864"/>
            <a:ext cx="8715375" cy="39290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14313" y="1279624"/>
            <a:ext cx="2093119" cy="800100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421731" y="1279624"/>
            <a:ext cx="2093119" cy="800100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629150" y="1279624"/>
            <a:ext cx="2093119" cy="800100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836569" y="1279624"/>
            <a:ext cx="2093119" cy="800100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14313" y="2193578"/>
            <a:ext cx="8715375" cy="407194"/>
          </a:xfrm>
          <a:prstGeom prst="rect">
            <a:avLst/>
          </a:prstGeom>
          <a:solidFill>
            <a:srgbClr val="F5F5F5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14313" y="2712839"/>
            <a:ext cx="4300538" cy="335756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29150" y="2712839"/>
            <a:ext cx="4300538" cy="335756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14313" y="3159323"/>
            <a:ext cx="8715375" cy="1414463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graphicFrame>
        <p:nvGraphicFramePr>
          <p:cNvPr id="17" name="Table 0"/>
          <p:cNvGraphicFramePr>
            <a:graphicFrameLocks noGrp="1"/>
          </p:cNvGraphicFramePr>
          <p:nvPr/>
        </p:nvGraphicFramePr>
        <p:xfrm>
          <a:off x="221456" y="3166467"/>
          <a:ext cx="8701088" cy="1396602"/>
        </p:xfrm>
        <a:graphic>
          <a:graphicData uri="http://schemas.openxmlformats.org/drawingml/2006/table">
            <a:tbl>
              <a:tblPr/>
              <a:tblGrid>
                <a:gridCol w="3382677"/>
                <a:gridCol w="1627994"/>
                <a:gridCol w="3690417"/>
              </a:tblGrid>
              <a:tr h="232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使用意图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占比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典型场景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921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寻求答案与建议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49%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信息检索、决策支持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1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完成任务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40%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写作与创作、编程开发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1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表达与创作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11%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内容生成、创意表达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9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与工作相关（另计）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约 30%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日常工作任务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 10"/>
          <p:cNvSpPr/>
          <p:nvPr/>
        </p:nvSpPr>
        <p:spPr>
          <a:xfrm>
            <a:off x="214313" y="329505"/>
            <a:ext cx="8976836" cy="328613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2080" dirty="0">
                <a:solidFill>
                  <a:srgbClr val="000000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应用场景矩阵：从日常问答到企业工作流</a:t>
            </a:r>
            <a:endParaRPr lang="en-US" sz="2080" dirty="0"/>
          </a:p>
        </p:txBody>
      </p:sp>
      <p:sp>
        <p:nvSpPr>
          <p:cNvPr id="15" name="Text 11"/>
          <p:cNvSpPr/>
          <p:nvPr/>
        </p:nvSpPr>
        <p:spPr>
          <a:xfrm>
            <a:off x="400050" y="858589"/>
            <a:ext cx="8638365" cy="221456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070" b="1" dirty="0">
                <a:solidFill>
                  <a:srgbClr val="000000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150 万条对话样本显示，49% 用于寻求答案与建议、40% 用于完成任务、11% 用于表达创作，约 30% 与工作相关。</a:t>
            </a:r>
            <a:endParaRPr lang="en-US" sz="1070" dirty="0"/>
          </a:p>
        </p:txBody>
      </p:sp>
      <p:sp>
        <p:nvSpPr>
          <p:cNvPr id="16" name="Text 12"/>
          <p:cNvSpPr/>
          <p:nvPr/>
        </p:nvSpPr>
        <p:spPr>
          <a:xfrm>
            <a:off x="335533" y="1372493"/>
            <a:ext cx="772597" cy="42862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D33941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49%</a:t>
            </a:r>
            <a:endParaRPr lang="en-US" sz="2700" dirty="0"/>
          </a:p>
        </p:txBody>
      </p:sp>
      <p:sp>
        <p:nvSpPr>
          <p:cNvPr id="13" name="Text 13"/>
          <p:cNvSpPr/>
          <p:nvPr/>
        </p:nvSpPr>
        <p:spPr>
          <a:xfrm>
            <a:off x="335756" y="1829693"/>
            <a:ext cx="1905738" cy="157163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寻求答案与建议占比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2542338" y="1372493"/>
            <a:ext cx="787313" cy="42862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D33941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40%</a:t>
            </a:r>
            <a:endParaRPr lang="en-US" sz="2700" dirty="0"/>
          </a:p>
        </p:txBody>
      </p:sp>
      <p:sp>
        <p:nvSpPr>
          <p:cNvPr id="19" name="Text 15"/>
          <p:cNvSpPr/>
          <p:nvPr/>
        </p:nvSpPr>
        <p:spPr>
          <a:xfrm>
            <a:off x="2543175" y="1829693"/>
            <a:ext cx="1905738" cy="157163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完成任务类占比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4749031" y="1372493"/>
            <a:ext cx="654868" cy="42862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D33941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11%</a:t>
            </a:r>
            <a:endParaRPr lang="en-US" sz="2700" dirty="0"/>
          </a:p>
        </p:txBody>
      </p:sp>
      <p:sp>
        <p:nvSpPr>
          <p:cNvPr id="21" name="Text 17"/>
          <p:cNvSpPr/>
          <p:nvPr/>
        </p:nvSpPr>
        <p:spPr>
          <a:xfrm>
            <a:off x="4750594" y="1829693"/>
            <a:ext cx="1905738" cy="157163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表达与创作占比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6957008" y="1372493"/>
            <a:ext cx="743164" cy="42862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D33941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75%</a:t>
            </a:r>
            <a:endParaRPr lang="en-US" sz="2700" dirty="0"/>
          </a:p>
        </p:txBody>
      </p:sp>
      <p:sp>
        <p:nvSpPr>
          <p:cNvPr id="23" name="Text 19"/>
          <p:cNvSpPr/>
          <p:nvPr/>
        </p:nvSpPr>
        <p:spPr>
          <a:xfrm>
            <a:off x="6958013" y="1829693"/>
            <a:ext cx="1905738" cy="157163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企业员工称工作提速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364331" y="2286446"/>
            <a:ext cx="8667798" cy="221456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企业用户人均日节省 40 至 60 分钟，重度用户每周节省 10 小时以上；女性名字用户占比超过 52%。</a:t>
            </a:r>
            <a:endParaRPr lang="en-US" sz="1070" dirty="0"/>
          </a:p>
        </p:txBody>
      </p:sp>
      <p:sp>
        <p:nvSpPr>
          <p:cNvPr id="25" name="Text 21"/>
          <p:cNvSpPr/>
          <p:nvPr/>
        </p:nvSpPr>
        <p:spPr>
          <a:xfrm>
            <a:off x="335756" y="2777133"/>
            <a:ext cx="978622" cy="207169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070" b="1" dirty="0">
                <a:solidFill>
                  <a:srgbClr val="000000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信息检索与决策</a:t>
            </a:r>
            <a:endParaRPr lang="en-US" sz="1070" dirty="0"/>
          </a:p>
        </p:txBody>
      </p:sp>
      <p:sp>
        <p:nvSpPr>
          <p:cNvPr id="26" name="Text 22"/>
          <p:cNvSpPr/>
          <p:nvPr/>
        </p:nvSpPr>
        <p:spPr>
          <a:xfrm>
            <a:off x="1341630" y="2802136"/>
            <a:ext cx="1684996" cy="157163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49% 的对话用于寻求答案与建议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4750594" y="2777133"/>
            <a:ext cx="699016" cy="207169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070" b="1" dirty="0">
                <a:solidFill>
                  <a:srgbClr val="000000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写作与编程</a:t>
            </a:r>
            <a:endParaRPr lang="en-US" sz="1070" dirty="0"/>
          </a:p>
        </p:txBody>
      </p:sp>
      <p:sp>
        <p:nvSpPr>
          <p:cNvPr id="28" name="Text 24"/>
          <p:cNvSpPr/>
          <p:nvPr/>
        </p:nvSpPr>
        <p:spPr>
          <a:xfrm>
            <a:off x="5486679" y="2802136"/>
            <a:ext cx="1331809" cy="157163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40% 的对话用于完成任务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214313" y="4686300"/>
            <a:ext cx="8976836" cy="128588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675" i="1" dirty="0">
                <a:solidFill>
                  <a:srgbClr val="898989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资料来源：OpenAI 官方、OpenAI 企业AI报告、驱动中国。</a:t>
            </a:r>
            <a:endParaRPr lang="en-US" sz="675" dirty="0"/>
          </a:p>
        </p:txBody>
      </p:sp>
      <p:sp>
        <p:nvSpPr>
          <p:cNvPr id="65535" name="wm:hwcld:2026-10-23T02:30:37:30c7c9cf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</p:spPr>
      </p:sp>
      <p:sp>
        <p:nvSpPr>
          <p:cNvPr id="3" name="Shape 1"/>
          <p:cNvSpPr/>
          <p:nvPr/>
        </p:nvSpPr>
        <p:spPr>
          <a:xfrm>
            <a:off x="214313" y="772864"/>
            <a:ext cx="8715375" cy="392906"/>
          </a:xfrm>
          <a:prstGeom prst="rect">
            <a:avLst/>
          </a:prstGeom>
          <a:solidFill>
            <a:srgbClr val="FFF1EF"/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4313" y="772864"/>
            <a:ext cx="8715375" cy="39290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14313" y="1279624"/>
            <a:ext cx="2093119" cy="800100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421731" y="1279624"/>
            <a:ext cx="2093119" cy="800100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629150" y="1279624"/>
            <a:ext cx="2093119" cy="800100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836569" y="1279624"/>
            <a:ext cx="2093119" cy="800100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14313" y="2193578"/>
            <a:ext cx="8715375" cy="407194"/>
          </a:xfrm>
          <a:prstGeom prst="rect">
            <a:avLst/>
          </a:prstGeom>
          <a:solidFill>
            <a:srgbClr val="F5F5F5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14313" y="2712839"/>
            <a:ext cx="4300538" cy="335756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29150" y="2712839"/>
            <a:ext cx="4300538" cy="335756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14313" y="3159323"/>
            <a:ext cx="8715375" cy="1414463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graphicFrame>
        <p:nvGraphicFramePr>
          <p:cNvPr id="18" name="Table 0"/>
          <p:cNvGraphicFramePr>
            <a:graphicFrameLocks noGrp="1"/>
          </p:cNvGraphicFramePr>
          <p:nvPr/>
        </p:nvGraphicFramePr>
        <p:xfrm>
          <a:off x="221456" y="3168253"/>
          <a:ext cx="8701088" cy="1407320"/>
        </p:xfrm>
        <a:graphic>
          <a:graphicData uri="http://schemas.openxmlformats.org/drawingml/2006/table">
            <a:tbl>
              <a:tblPr/>
              <a:tblGrid>
                <a:gridCol w="3496531"/>
                <a:gridCol w="1853357"/>
                <a:gridCol w="3351200"/>
              </a:tblGrid>
              <a:tr h="232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指标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数值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口径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35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GPT-4 单位 token 成本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约 33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美元（每百万 token）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GPT-5 nano 单位成本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约 0.09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美元（每百万 token）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单位 token 成本降幅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99.7%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相对 GPT-4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企业客户数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250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万家（累计）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2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付费订阅用户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5000 以上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万（累计）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 10"/>
          <p:cNvSpPr/>
          <p:nvPr/>
        </p:nvSpPr>
        <p:spPr>
          <a:xfrm>
            <a:off x="214313" y="329505"/>
            <a:ext cx="8976836" cy="328613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2080" dirty="0">
                <a:solidFill>
                  <a:srgbClr val="000000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开发者生态与 API 经济：调用量与成本演化</a:t>
            </a:r>
            <a:endParaRPr lang="en-US" sz="2080" dirty="0"/>
          </a:p>
        </p:txBody>
      </p:sp>
      <p:sp>
        <p:nvSpPr>
          <p:cNvPr id="15" name="Text 11"/>
          <p:cNvSpPr/>
          <p:nvPr/>
        </p:nvSpPr>
        <p:spPr>
          <a:xfrm>
            <a:off x="400050" y="858589"/>
            <a:ext cx="8638365" cy="221456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070" b="1" dirty="0">
                <a:solidFill>
                  <a:srgbClr val="000000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单位 token 成本从 GPT-4 的约 33 美元降至 GPT-5 nano 的约 9 美分，降幅 99.7%，API 经济随调用量同步扩张。</a:t>
            </a:r>
            <a:endParaRPr lang="en-US" sz="1070" dirty="0"/>
          </a:p>
        </p:txBody>
      </p:sp>
      <p:sp>
        <p:nvSpPr>
          <p:cNvPr id="16" name="Text 12"/>
          <p:cNvSpPr/>
          <p:nvPr/>
        </p:nvSpPr>
        <p:spPr>
          <a:xfrm>
            <a:off x="335031" y="1372493"/>
            <a:ext cx="1081635" cy="42862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D33941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99.7%</a:t>
            </a:r>
            <a:endParaRPr lang="en-US" sz="2700" dirty="0"/>
          </a:p>
        </p:txBody>
      </p:sp>
      <p:sp>
        <p:nvSpPr>
          <p:cNvPr id="17" name="Text 13"/>
          <p:cNvSpPr/>
          <p:nvPr/>
        </p:nvSpPr>
        <p:spPr>
          <a:xfrm>
            <a:off x="335756" y="1829693"/>
            <a:ext cx="1905738" cy="157163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单位 token 成本降幅</a:t>
            </a:r>
            <a:endParaRPr lang="en-US" sz="900" dirty="0"/>
          </a:p>
        </p:txBody>
      </p:sp>
      <p:sp>
        <p:nvSpPr>
          <p:cNvPr id="13" name="Text 14"/>
          <p:cNvSpPr/>
          <p:nvPr/>
        </p:nvSpPr>
        <p:spPr>
          <a:xfrm>
            <a:off x="2542449" y="1372493"/>
            <a:ext cx="640151" cy="42862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D33941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250</a:t>
            </a:r>
            <a:endParaRPr lang="en-US" sz="2700" dirty="0"/>
          </a:p>
        </p:txBody>
      </p:sp>
      <p:sp>
        <p:nvSpPr>
          <p:cNvPr id="19" name="Text 15"/>
          <p:cNvSpPr/>
          <p:nvPr/>
        </p:nvSpPr>
        <p:spPr>
          <a:xfrm>
            <a:off x="3191805" y="1658243"/>
            <a:ext cx="235458" cy="14287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898989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万家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2543175" y="1829693"/>
            <a:ext cx="1905738" cy="157163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企业客户数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4749980" y="1372493"/>
            <a:ext cx="890326" cy="42862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D33941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5000</a:t>
            </a:r>
            <a:endParaRPr lang="en-US" sz="2700" dirty="0"/>
          </a:p>
        </p:txBody>
      </p:sp>
      <p:sp>
        <p:nvSpPr>
          <p:cNvPr id="22" name="Text 18"/>
          <p:cNvSpPr/>
          <p:nvPr/>
        </p:nvSpPr>
        <p:spPr>
          <a:xfrm>
            <a:off x="5642335" y="1658243"/>
            <a:ext cx="353187" cy="14287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898989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万以上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4750594" y="1829693"/>
            <a:ext cx="1905738" cy="157163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付费订阅用户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6958961" y="1372493"/>
            <a:ext cx="632793" cy="42862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D33941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320</a:t>
            </a:r>
            <a:endParaRPr lang="en-US" sz="2700" dirty="0"/>
          </a:p>
        </p:txBody>
      </p:sp>
      <p:sp>
        <p:nvSpPr>
          <p:cNvPr id="25" name="Text 21"/>
          <p:cNvSpPr/>
          <p:nvPr/>
        </p:nvSpPr>
        <p:spPr>
          <a:xfrm>
            <a:off x="7602848" y="1658243"/>
            <a:ext cx="117729" cy="14287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898989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倍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958013" y="1829693"/>
            <a:ext cx="1905738" cy="157163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组织推理 token 增幅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364331" y="2286446"/>
            <a:ext cx="8667798" cy="221456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结构化工作流使用量增长 19 倍，ChatGPT 搜索市场份额从 6% 提升至 12%。</a:t>
            </a:r>
            <a:endParaRPr lang="en-US" sz="1070" dirty="0"/>
          </a:p>
        </p:txBody>
      </p:sp>
      <p:sp>
        <p:nvSpPr>
          <p:cNvPr id="28" name="Text 24"/>
          <p:cNvSpPr/>
          <p:nvPr/>
        </p:nvSpPr>
        <p:spPr>
          <a:xfrm>
            <a:off x="336259" y="2777133"/>
            <a:ext cx="779955" cy="207169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070" b="1" dirty="0">
                <a:solidFill>
                  <a:srgbClr val="000000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GPT-5 nano</a:t>
            </a:r>
            <a:endParaRPr lang="en-US" sz="1070" dirty="0"/>
          </a:p>
        </p:txBody>
      </p:sp>
      <p:sp>
        <p:nvSpPr>
          <p:cNvPr id="29" name="Text 25"/>
          <p:cNvSpPr/>
          <p:nvPr/>
        </p:nvSpPr>
        <p:spPr>
          <a:xfrm>
            <a:off x="1151316" y="2802136"/>
            <a:ext cx="2457593" cy="157163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单位 token 成本约 9 美分，约为 GPT-4 的 0.3%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4750594" y="2777133"/>
            <a:ext cx="419410" cy="207169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070" b="1" dirty="0">
                <a:solidFill>
                  <a:srgbClr val="000000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企业侧</a:t>
            </a:r>
            <a:endParaRPr lang="en-US" sz="1070" dirty="0"/>
          </a:p>
        </p:txBody>
      </p:sp>
      <p:sp>
        <p:nvSpPr>
          <p:cNvPr id="31" name="Text 27"/>
          <p:cNvSpPr/>
          <p:nvPr/>
        </p:nvSpPr>
        <p:spPr>
          <a:xfrm>
            <a:off x="5214435" y="2802136"/>
            <a:ext cx="2177987" cy="157163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250 万家企业客户、5000 万以上付费订阅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214313" y="4686300"/>
            <a:ext cx="8976836" cy="128588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675" i="1" dirty="0">
                <a:solidFill>
                  <a:srgbClr val="898989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资料来源：腾讯云成绩单、驱动中国、北京商报、OpenAI 企业AI报告、钛媒体。</a:t>
            </a:r>
            <a:endParaRPr lang="en-US" sz="675" dirty="0"/>
          </a:p>
        </p:txBody>
      </p:sp>
      <p:sp>
        <p:nvSpPr>
          <p:cNvPr id="65535" name="wm:hwcld:2026-10-23T02:30:37:30c7c9cf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</p:spPr>
      </p:sp>
      <p:sp>
        <p:nvSpPr>
          <p:cNvPr id="3" name="Shape 1"/>
          <p:cNvSpPr/>
          <p:nvPr/>
        </p:nvSpPr>
        <p:spPr>
          <a:xfrm>
            <a:off x="214313" y="772864"/>
            <a:ext cx="8715375" cy="392906"/>
          </a:xfrm>
          <a:prstGeom prst="rect">
            <a:avLst/>
          </a:prstGeom>
          <a:solidFill>
            <a:srgbClr val="FFF1EF"/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4313" y="772864"/>
            <a:ext cx="8715375" cy="39290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14313" y="1279624"/>
            <a:ext cx="2093119" cy="800100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421731" y="1279624"/>
            <a:ext cx="2093119" cy="800100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629150" y="1279624"/>
            <a:ext cx="2093119" cy="800100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836569" y="1279624"/>
            <a:ext cx="2093119" cy="800100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14313" y="2193578"/>
            <a:ext cx="8715375" cy="407194"/>
          </a:xfrm>
          <a:prstGeom prst="rect">
            <a:avLst/>
          </a:prstGeom>
          <a:solidFill>
            <a:srgbClr val="F5F5F5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14313" y="2712839"/>
            <a:ext cx="4300538" cy="335756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29150" y="2712839"/>
            <a:ext cx="4300538" cy="335756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14313" y="3159323"/>
            <a:ext cx="8715375" cy="1414463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graphicFrame>
        <p:nvGraphicFramePr>
          <p:cNvPr id="19" name="Table 0"/>
          <p:cNvGraphicFramePr>
            <a:graphicFrameLocks noGrp="1"/>
          </p:cNvGraphicFramePr>
          <p:nvPr/>
        </p:nvGraphicFramePr>
        <p:xfrm>
          <a:off x="221456" y="3168253"/>
          <a:ext cx="8701088" cy="1407320"/>
        </p:xfrm>
        <a:graphic>
          <a:graphicData uri="http://schemas.openxmlformats.org/drawingml/2006/table">
            <a:tbl>
              <a:tblPr/>
              <a:tblGrid>
                <a:gridCol w="2735163"/>
                <a:gridCol w="2050033"/>
                <a:gridCol w="3915891"/>
              </a:tblGrid>
              <a:tr h="232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指标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数值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口径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35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确认营收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37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亿美元（2024 年度）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确认营收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130.7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亿美元（2025 年度）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年化营收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400 以上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亿美元（2026-08）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投后估值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8520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亿美元（2026-03）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2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算力基建承诺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6000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亿美元（至 2030）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 10"/>
          <p:cNvSpPr/>
          <p:nvPr/>
        </p:nvSpPr>
        <p:spPr>
          <a:xfrm>
            <a:off x="214313" y="329505"/>
            <a:ext cx="8976836" cy="328613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2080" dirty="0">
                <a:solidFill>
                  <a:srgbClr val="000000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商业化与行业影响：营收、估值与市场规模</a:t>
            </a:r>
            <a:endParaRPr lang="en-US" sz="2080" dirty="0"/>
          </a:p>
        </p:txBody>
      </p:sp>
      <p:sp>
        <p:nvSpPr>
          <p:cNvPr id="15" name="Text 11"/>
          <p:cNvSpPr/>
          <p:nvPr/>
        </p:nvSpPr>
        <p:spPr>
          <a:xfrm>
            <a:off x="400050" y="858589"/>
            <a:ext cx="8638365" cy="221456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070" b="1" dirty="0">
                <a:solidFill>
                  <a:srgbClr val="000000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OpenAI 确认营收从 2024 年的 37 亿美元增至 2025 年的 130.7 亿美元，2026 年 8 月年化营收超过 400 亿美元。</a:t>
            </a:r>
            <a:endParaRPr lang="en-US" sz="1070" dirty="0"/>
          </a:p>
        </p:txBody>
      </p:sp>
      <p:sp>
        <p:nvSpPr>
          <p:cNvPr id="16" name="Text 12"/>
          <p:cNvSpPr/>
          <p:nvPr/>
        </p:nvSpPr>
        <p:spPr>
          <a:xfrm>
            <a:off x="335645" y="1372493"/>
            <a:ext cx="404693" cy="42862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D33941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37</a:t>
            </a:r>
            <a:endParaRPr lang="en-US" sz="2700" dirty="0"/>
          </a:p>
        </p:txBody>
      </p:sp>
      <p:sp>
        <p:nvSpPr>
          <p:cNvPr id="17" name="Text 13"/>
          <p:cNvSpPr/>
          <p:nvPr/>
        </p:nvSpPr>
        <p:spPr>
          <a:xfrm>
            <a:off x="757014" y="1658243"/>
            <a:ext cx="353187" cy="14287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898989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亿美元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335756" y="1829693"/>
            <a:ext cx="1905738" cy="157163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确认营收（2024）</a:t>
            </a:r>
            <a:endParaRPr lang="en-US" sz="900" dirty="0"/>
          </a:p>
        </p:txBody>
      </p:sp>
      <p:sp>
        <p:nvSpPr>
          <p:cNvPr id="13" name="Text 15"/>
          <p:cNvSpPr/>
          <p:nvPr/>
        </p:nvSpPr>
        <p:spPr>
          <a:xfrm>
            <a:off x="2541389" y="1372493"/>
            <a:ext cx="897684" cy="42862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D33941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130.7</a:t>
            </a:r>
            <a:endParaRPr lang="en-US" sz="2700" dirty="0"/>
          </a:p>
        </p:txBody>
      </p:sp>
      <p:sp>
        <p:nvSpPr>
          <p:cNvPr id="20" name="Text 16"/>
          <p:cNvSpPr/>
          <p:nvPr/>
        </p:nvSpPr>
        <p:spPr>
          <a:xfrm>
            <a:off x="3439716" y="1658243"/>
            <a:ext cx="353187" cy="14287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898989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亿美元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2543175" y="1829693"/>
            <a:ext cx="1905738" cy="157163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确认营收（2025）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4749645" y="1372493"/>
            <a:ext cx="853535" cy="42862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D33941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8520</a:t>
            </a:r>
            <a:endParaRPr lang="en-US" sz="2700" dirty="0"/>
          </a:p>
        </p:txBody>
      </p:sp>
      <p:sp>
        <p:nvSpPr>
          <p:cNvPr id="23" name="Text 19"/>
          <p:cNvSpPr/>
          <p:nvPr/>
        </p:nvSpPr>
        <p:spPr>
          <a:xfrm>
            <a:off x="5605946" y="1658243"/>
            <a:ext cx="353187" cy="14287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898989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亿美元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4750594" y="1829693"/>
            <a:ext cx="1905738" cy="157163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投后估值（2026-03）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6957622" y="1372493"/>
            <a:ext cx="1081635" cy="42862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D33941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29.3%</a:t>
            </a:r>
            <a:endParaRPr lang="en-US" sz="2700" dirty="0"/>
          </a:p>
        </p:txBody>
      </p:sp>
      <p:sp>
        <p:nvSpPr>
          <p:cNvPr id="26" name="Text 22"/>
          <p:cNvSpPr/>
          <p:nvPr/>
        </p:nvSpPr>
        <p:spPr>
          <a:xfrm>
            <a:off x="6958013" y="1829693"/>
            <a:ext cx="1905738" cy="157163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生成式 AI 市场 CAGR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364331" y="2286446"/>
            <a:ext cx="8667798" cy="221456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生成式 AI 全球市场 2025 年 1035.8 亿美元、2026 年 1610 亿美元，2034 年预计达 12601.5 亿美元。</a:t>
            </a:r>
            <a:endParaRPr lang="en-US" sz="1070" dirty="0"/>
          </a:p>
        </p:txBody>
      </p:sp>
      <p:sp>
        <p:nvSpPr>
          <p:cNvPr id="28" name="Text 24"/>
          <p:cNvSpPr/>
          <p:nvPr/>
        </p:nvSpPr>
        <p:spPr>
          <a:xfrm>
            <a:off x="335756" y="2777133"/>
            <a:ext cx="559213" cy="207169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070" b="1" dirty="0">
                <a:solidFill>
                  <a:srgbClr val="000000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营收曲线</a:t>
            </a:r>
            <a:endParaRPr lang="en-US" sz="1070" dirty="0"/>
          </a:p>
        </p:txBody>
      </p:sp>
      <p:sp>
        <p:nvSpPr>
          <p:cNvPr id="29" name="Text 25"/>
          <p:cNvSpPr/>
          <p:nvPr/>
        </p:nvSpPr>
        <p:spPr>
          <a:xfrm>
            <a:off x="934269" y="2802136"/>
            <a:ext cx="1898380" cy="157163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37 亿到 130.7 亿美元，同比超过 3 倍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4750594" y="2777133"/>
            <a:ext cx="559213" cy="207169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070" b="1" dirty="0">
                <a:solidFill>
                  <a:srgbClr val="000000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资本投入</a:t>
            </a:r>
            <a:endParaRPr lang="en-US" sz="1070" dirty="0"/>
          </a:p>
        </p:txBody>
      </p:sp>
      <p:sp>
        <p:nvSpPr>
          <p:cNvPr id="31" name="Text 27"/>
          <p:cNvSpPr/>
          <p:nvPr/>
        </p:nvSpPr>
        <p:spPr>
          <a:xfrm>
            <a:off x="5350111" y="2802136"/>
            <a:ext cx="2398728" cy="157163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单轮融资 1220 亿美元、算力承诺 6000 亿美元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214313" y="4686300"/>
            <a:ext cx="8976836" cy="128588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675" i="1" dirty="0">
                <a:solidFill>
                  <a:srgbClr val="898989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资料来源：腾讯云成绩单、DoNews、北京商报、钛媒体、Fortune Business Insights。</a:t>
            </a:r>
            <a:endParaRPr lang="en-US" sz="675" dirty="0"/>
          </a:p>
        </p:txBody>
      </p:sp>
      <p:sp>
        <p:nvSpPr>
          <p:cNvPr id="65535" name="wm:hwcld:2026-10-23T02:30:37:30c7c9cf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</p:spPr>
      </p:sp>
      <p:sp>
        <p:nvSpPr>
          <p:cNvPr id="3" name="Shape 1"/>
          <p:cNvSpPr/>
          <p:nvPr/>
        </p:nvSpPr>
        <p:spPr>
          <a:xfrm>
            <a:off x="214313" y="772864"/>
            <a:ext cx="8715375" cy="392906"/>
          </a:xfrm>
          <a:prstGeom prst="rect">
            <a:avLst/>
          </a:prstGeom>
          <a:solidFill>
            <a:srgbClr val="FFF1EF"/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4313" y="772864"/>
            <a:ext cx="8715375" cy="39290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14313" y="1279624"/>
            <a:ext cx="2093119" cy="800100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421731" y="1279624"/>
            <a:ext cx="2093119" cy="800100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629150" y="1279624"/>
            <a:ext cx="2093119" cy="800100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836569" y="1279624"/>
            <a:ext cx="2093119" cy="800100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14313" y="2193578"/>
            <a:ext cx="8715375" cy="407194"/>
          </a:xfrm>
          <a:prstGeom prst="rect">
            <a:avLst/>
          </a:prstGeom>
          <a:solidFill>
            <a:srgbClr val="F5F5F5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14313" y="2712839"/>
            <a:ext cx="4300538" cy="335756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29150" y="2712839"/>
            <a:ext cx="4300538" cy="335756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14313" y="3159323"/>
            <a:ext cx="8715375" cy="1414463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graphicFrame>
        <p:nvGraphicFramePr>
          <p:cNvPr id="20" name="Table 0"/>
          <p:cNvGraphicFramePr>
            <a:graphicFrameLocks noGrp="1"/>
          </p:cNvGraphicFramePr>
          <p:nvPr/>
        </p:nvGraphicFramePr>
        <p:xfrm>
          <a:off x="221456" y="3168253"/>
          <a:ext cx="8701089" cy="1407320"/>
        </p:xfrm>
        <a:graphic>
          <a:graphicData uri="http://schemas.openxmlformats.org/drawingml/2006/table">
            <a:tbl>
              <a:tblPr/>
              <a:tblGrid>
                <a:gridCol w="2036862"/>
                <a:gridCol w="2620752"/>
                <a:gridCol w="1989200"/>
                <a:gridCol w="2054275"/>
              </a:tblGrid>
              <a:tr h="232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维度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OpenAI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Anthropic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Google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35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企业 API 份额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25%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32%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未披露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年化营收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400 亿美元以上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470 亿美元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未披露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代表产品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ChatGPT 与 Codex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Claude Code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Gemini 3.x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旗舰输入定价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5 美元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未披露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Flash 1.5 美元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2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投后估值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8520 亿美元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未披露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未披露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 10"/>
          <p:cNvSpPr/>
          <p:nvPr/>
        </p:nvSpPr>
        <p:spPr>
          <a:xfrm>
            <a:off x="214313" y="329505"/>
            <a:ext cx="8976836" cy="328613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2080" dirty="0">
                <a:solidFill>
                  <a:srgbClr val="000000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竞争格局：头部厂商的能力与商业化路径分化</a:t>
            </a:r>
            <a:endParaRPr lang="en-US" sz="2080" dirty="0"/>
          </a:p>
        </p:txBody>
      </p:sp>
      <p:sp>
        <p:nvSpPr>
          <p:cNvPr id="15" name="Text 11"/>
          <p:cNvSpPr/>
          <p:nvPr/>
        </p:nvSpPr>
        <p:spPr>
          <a:xfrm>
            <a:off x="400050" y="858589"/>
            <a:ext cx="8638365" cy="221456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070" b="1" dirty="0">
                <a:solidFill>
                  <a:srgbClr val="000000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2026 年二季度企业级 API 市场中，Anthropic 份额 32% 已超过 OpenAI 的 25%，旗舰定价与资本实力成为竞争焦点。</a:t>
            </a:r>
            <a:endParaRPr lang="en-US" sz="1070" dirty="0"/>
          </a:p>
        </p:txBody>
      </p:sp>
      <p:sp>
        <p:nvSpPr>
          <p:cNvPr id="16" name="Text 12"/>
          <p:cNvSpPr/>
          <p:nvPr/>
        </p:nvSpPr>
        <p:spPr>
          <a:xfrm>
            <a:off x="335756" y="1372493"/>
            <a:ext cx="750522" cy="42862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D33941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32%</a:t>
            </a:r>
            <a:endParaRPr lang="en-US" sz="2700" dirty="0"/>
          </a:p>
        </p:txBody>
      </p:sp>
      <p:sp>
        <p:nvSpPr>
          <p:cNvPr id="17" name="Text 13"/>
          <p:cNvSpPr/>
          <p:nvPr/>
        </p:nvSpPr>
        <p:spPr>
          <a:xfrm>
            <a:off x="335756" y="1829693"/>
            <a:ext cx="1905738" cy="157163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Anthropic 企业 API 份额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2543175" y="1372493"/>
            <a:ext cx="750522" cy="42862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D33941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25%</a:t>
            </a:r>
            <a:endParaRPr lang="en-US" sz="2700" dirty="0"/>
          </a:p>
        </p:txBody>
      </p:sp>
      <p:sp>
        <p:nvSpPr>
          <p:cNvPr id="19" name="Text 15"/>
          <p:cNvSpPr/>
          <p:nvPr/>
        </p:nvSpPr>
        <p:spPr>
          <a:xfrm>
            <a:off x="2543175" y="1829693"/>
            <a:ext cx="1905738" cy="157163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OpenAI 企业 API 份额</a:t>
            </a:r>
            <a:endParaRPr lang="en-US" sz="900" dirty="0"/>
          </a:p>
        </p:txBody>
      </p:sp>
      <p:sp>
        <p:nvSpPr>
          <p:cNvPr id="13" name="Text 16"/>
          <p:cNvSpPr/>
          <p:nvPr/>
        </p:nvSpPr>
        <p:spPr>
          <a:xfrm>
            <a:off x="4749812" y="1372493"/>
            <a:ext cx="632793" cy="42862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D33941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470</a:t>
            </a:r>
            <a:endParaRPr lang="en-US" sz="2700" dirty="0"/>
          </a:p>
        </p:txBody>
      </p:sp>
      <p:sp>
        <p:nvSpPr>
          <p:cNvPr id="21" name="Text 17"/>
          <p:cNvSpPr/>
          <p:nvPr/>
        </p:nvSpPr>
        <p:spPr>
          <a:xfrm>
            <a:off x="5391969" y="1658243"/>
            <a:ext cx="353187" cy="14287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898989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亿美元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4750594" y="1829693"/>
            <a:ext cx="1905738" cy="157163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Anthropic 年化营收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6957733" y="1372493"/>
            <a:ext cx="412051" cy="42862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D33941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25</a:t>
            </a:r>
            <a:endParaRPr lang="en-US" sz="2700" dirty="0"/>
          </a:p>
        </p:txBody>
      </p:sp>
      <p:sp>
        <p:nvSpPr>
          <p:cNvPr id="24" name="Text 20"/>
          <p:cNvSpPr/>
          <p:nvPr/>
        </p:nvSpPr>
        <p:spPr>
          <a:xfrm>
            <a:off x="7386079" y="1658243"/>
            <a:ext cx="353187" cy="14287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898989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亿美元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6958013" y="1829693"/>
            <a:ext cx="1905738" cy="157163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Claude Code 年化营收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364331" y="2286446"/>
            <a:ext cx="8667798" cy="221456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Anthropic 预计 2026 年二季度单季营收 109 亿美元、营业利润 5.59 亿美元。</a:t>
            </a:r>
            <a:endParaRPr lang="en-US" sz="1070" dirty="0"/>
          </a:p>
        </p:txBody>
      </p:sp>
      <p:sp>
        <p:nvSpPr>
          <p:cNvPr id="27" name="Text 23"/>
          <p:cNvSpPr/>
          <p:nvPr/>
        </p:nvSpPr>
        <p:spPr>
          <a:xfrm>
            <a:off x="336705" y="2777133"/>
            <a:ext cx="676942" cy="207169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070" b="1" dirty="0">
                <a:solidFill>
                  <a:srgbClr val="000000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Anthropic</a:t>
            </a:r>
            <a:endParaRPr lang="en-US" sz="1070" dirty="0"/>
          </a:p>
        </p:txBody>
      </p:sp>
      <p:sp>
        <p:nvSpPr>
          <p:cNvPr id="28" name="Text 24"/>
          <p:cNvSpPr/>
          <p:nvPr/>
        </p:nvSpPr>
        <p:spPr>
          <a:xfrm>
            <a:off x="1053480" y="2802136"/>
            <a:ext cx="2273641" cy="157163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企业级 API 份额 32%，年化营收 470 亿美元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4752045" y="2777133"/>
            <a:ext cx="500348" cy="207169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070" b="1" dirty="0">
                <a:solidFill>
                  <a:srgbClr val="000000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OpenAI</a:t>
            </a:r>
            <a:endParaRPr lang="en-US" sz="1070" dirty="0"/>
          </a:p>
        </p:txBody>
      </p:sp>
      <p:sp>
        <p:nvSpPr>
          <p:cNvPr id="30" name="Text 26"/>
          <p:cNvSpPr/>
          <p:nvPr/>
        </p:nvSpPr>
        <p:spPr>
          <a:xfrm>
            <a:off x="5295026" y="2802136"/>
            <a:ext cx="2531174" cy="157163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旗舰定价输入 5 美元、输出 30 美元每百万 token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214313" y="4686300"/>
            <a:ext cx="8976836" cy="128588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675" i="1" dirty="0">
                <a:solidFill>
                  <a:srgbClr val="898989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资料来源：国新证券、钛媒体、北京商报。</a:t>
            </a:r>
            <a:endParaRPr lang="en-US" sz="675" dirty="0"/>
          </a:p>
        </p:txBody>
      </p:sp>
      <p:sp>
        <p:nvSpPr>
          <p:cNvPr id="65535" name="wm:hwcld:2026-10-23T02:30:37:30c7c9cf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</p:spPr>
      </p:sp>
      <p:sp>
        <p:nvSpPr>
          <p:cNvPr id="3" name="Shape 1"/>
          <p:cNvSpPr/>
          <p:nvPr/>
        </p:nvSpPr>
        <p:spPr>
          <a:xfrm>
            <a:off x="214313" y="772864"/>
            <a:ext cx="8715375" cy="392906"/>
          </a:xfrm>
          <a:prstGeom prst="rect">
            <a:avLst/>
          </a:prstGeom>
          <a:solidFill>
            <a:srgbClr val="FFF1EF"/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4313" y="772864"/>
            <a:ext cx="8715375" cy="39290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14313" y="1279624"/>
            <a:ext cx="2093119" cy="800100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421731" y="1279624"/>
            <a:ext cx="2093119" cy="800100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629150" y="1279624"/>
            <a:ext cx="2093119" cy="800100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836569" y="1279624"/>
            <a:ext cx="2093119" cy="800100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14313" y="2193578"/>
            <a:ext cx="8715375" cy="407194"/>
          </a:xfrm>
          <a:prstGeom prst="rect">
            <a:avLst/>
          </a:prstGeom>
          <a:solidFill>
            <a:srgbClr val="F5F5F5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14313" y="2712839"/>
            <a:ext cx="4300538" cy="335756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29150" y="2712839"/>
            <a:ext cx="4300538" cy="335756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14313" y="3159323"/>
            <a:ext cx="8715375" cy="1414463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graphicFrame>
        <p:nvGraphicFramePr>
          <p:cNvPr id="21" name="Table 0"/>
          <p:cNvGraphicFramePr>
            <a:graphicFrameLocks noGrp="1"/>
          </p:cNvGraphicFramePr>
          <p:nvPr/>
        </p:nvGraphicFramePr>
        <p:xfrm>
          <a:off x="221456" y="3166467"/>
          <a:ext cx="8701088" cy="1396602"/>
        </p:xfrm>
        <a:graphic>
          <a:graphicData uri="http://schemas.openxmlformats.org/drawingml/2006/table">
            <a:tbl>
              <a:tblPr/>
              <a:tblGrid>
                <a:gridCol w="1598861"/>
                <a:gridCol w="3637620"/>
                <a:gridCol w="3464607"/>
              </a:tblGrid>
              <a:tr h="232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约束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表现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缓解方向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921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数据墙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高质量语料接近枯竭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合成数据、检索增强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1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幻觉放大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知识密集任务不奏效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检索增强、答案溯源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1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推理成本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高算力单任务超 1000 美元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蒸馏小模型、按需加算力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9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基准饱和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MMLU 等静态基准饱和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动态新基准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 10"/>
          <p:cNvSpPr/>
          <p:nvPr/>
        </p:nvSpPr>
        <p:spPr>
          <a:xfrm>
            <a:off x="214313" y="329505"/>
            <a:ext cx="8976836" cy="328613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2080" dirty="0">
                <a:solidFill>
                  <a:srgbClr val="000000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挑战与风险：幻觉、成本与治理的多重约束</a:t>
            </a:r>
            <a:endParaRPr lang="en-US" sz="2080" dirty="0"/>
          </a:p>
        </p:txBody>
      </p:sp>
      <p:sp>
        <p:nvSpPr>
          <p:cNvPr id="15" name="Text 11"/>
          <p:cNvSpPr/>
          <p:nvPr/>
        </p:nvSpPr>
        <p:spPr>
          <a:xfrm>
            <a:off x="400050" y="858589"/>
            <a:ext cx="8638365" cy="221456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070" b="1" dirty="0">
                <a:solidFill>
                  <a:srgbClr val="000000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能力提升同时暴露三重约束：高质量语料接近枯竭、推理模型在知识密集任务上幻觉放大、高算力推理成本可达常规模型 10 至 100 倍。</a:t>
            </a:r>
            <a:endParaRPr lang="en-US" sz="1070" dirty="0"/>
          </a:p>
        </p:txBody>
      </p:sp>
      <p:sp>
        <p:nvSpPr>
          <p:cNvPr id="16" name="Text 12"/>
          <p:cNvSpPr/>
          <p:nvPr/>
        </p:nvSpPr>
        <p:spPr>
          <a:xfrm>
            <a:off x="337431" y="1372493"/>
            <a:ext cx="382619" cy="42862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D33941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10</a:t>
            </a:r>
            <a:endParaRPr lang="en-US" sz="2700" dirty="0"/>
          </a:p>
        </p:txBody>
      </p:sp>
      <p:sp>
        <p:nvSpPr>
          <p:cNvPr id="17" name="Text 13"/>
          <p:cNvSpPr/>
          <p:nvPr/>
        </p:nvSpPr>
        <p:spPr>
          <a:xfrm>
            <a:off x="738597" y="1658243"/>
            <a:ext cx="478274" cy="14287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898989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至 100 倍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335756" y="1829693"/>
            <a:ext cx="1905738" cy="157163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推理成本相对标准档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2543342" y="1372493"/>
            <a:ext cx="1096351" cy="42862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D33941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5000+</a:t>
            </a:r>
            <a:endParaRPr lang="en-US" sz="2700" dirty="0"/>
          </a:p>
        </p:txBody>
      </p:sp>
      <p:sp>
        <p:nvSpPr>
          <p:cNvPr id="20" name="Text 16"/>
          <p:cNvSpPr/>
          <p:nvPr/>
        </p:nvSpPr>
        <p:spPr>
          <a:xfrm>
            <a:off x="3634718" y="1658243"/>
            <a:ext cx="316397" cy="14287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898989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token</a:t>
            </a:r>
            <a:endParaRPr lang="en-US" sz="900" dirty="0"/>
          </a:p>
        </p:txBody>
      </p:sp>
      <p:sp>
        <p:nvSpPr>
          <p:cNvPr id="13" name="Text 17"/>
          <p:cNvSpPr/>
          <p:nvPr/>
        </p:nvSpPr>
        <p:spPr>
          <a:xfrm>
            <a:off x="2543175" y="1829693"/>
            <a:ext cx="1905738" cy="157163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o3 思考 token 量下限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4752101" y="1372493"/>
            <a:ext cx="1044845" cy="42862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D33941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1000+</a:t>
            </a:r>
            <a:endParaRPr lang="en-US" sz="2700" dirty="0"/>
          </a:p>
        </p:txBody>
      </p:sp>
      <p:sp>
        <p:nvSpPr>
          <p:cNvPr id="23" name="Text 19"/>
          <p:cNvSpPr/>
          <p:nvPr/>
        </p:nvSpPr>
        <p:spPr>
          <a:xfrm>
            <a:off x="5796595" y="1658243"/>
            <a:ext cx="235458" cy="14287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898989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美元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4750594" y="1829693"/>
            <a:ext cx="1905738" cy="157163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o3 高算力单任务成本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6959519" y="1372493"/>
            <a:ext cx="375261" cy="42862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D33941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14</a:t>
            </a:r>
            <a:endParaRPr lang="en-US" sz="2700" dirty="0"/>
          </a:p>
        </p:txBody>
      </p:sp>
      <p:sp>
        <p:nvSpPr>
          <p:cNvPr id="26" name="Text 22"/>
          <p:cNvSpPr/>
          <p:nvPr/>
        </p:nvSpPr>
        <p:spPr>
          <a:xfrm>
            <a:off x="7353933" y="1658243"/>
            <a:ext cx="117729" cy="14287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898989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个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6958013" y="1829693"/>
            <a:ext cx="1905738" cy="157163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推理模型幻觉评估样本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364331" y="2286446"/>
            <a:ext cx="8667798" cy="221456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静态基准快速饱和，MMLU 等评测效度下降；OpenAI 累计承诺 6000 亿美元算力基建投入。</a:t>
            </a:r>
            <a:endParaRPr lang="en-US" sz="1070" dirty="0"/>
          </a:p>
        </p:txBody>
      </p:sp>
      <p:sp>
        <p:nvSpPr>
          <p:cNvPr id="29" name="Text 25"/>
          <p:cNvSpPr/>
          <p:nvPr/>
        </p:nvSpPr>
        <p:spPr>
          <a:xfrm>
            <a:off x="335756" y="2777133"/>
            <a:ext cx="419410" cy="207169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070" b="1" dirty="0">
                <a:solidFill>
                  <a:srgbClr val="000000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数据墙</a:t>
            </a:r>
            <a:endParaRPr lang="en-US" sz="1070" dirty="0"/>
          </a:p>
        </p:txBody>
      </p:sp>
      <p:sp>
        <p:nvSpPr>
          <p:cNvPr id="30" name="Text 26"/>
          <p:cNvSpPr/>
          <p:nvPr/>
        </p:nvSpPr>
        <p:spPr>
          <a:xfrm>
            <a:off x="800100" y="2802136"/>
            <a:ext cx="3178683" cy="157163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高质量预训练语料接近枯竭，合成数据与检索增强成缓解方向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4750594" y="2777133"/>
            <a:ext cx="699016" cy="207169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070" b="1" dirty="0">
                <a:solidFill>
                  <a:srgbClr val="000000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幻觉与成本</a:t>
            </a:r>
            <a:endParaRPr lang="en-US" sz="1070" dirty="0"/>
          </a:p>
        </p:txBody>
      </p:sp>
      <p:sp>
        <p:nvSpPr>
          <p:cNvPr id="32" name="Text 28"/>
          <p:cNvSpPr/>
          <p:nvPr/>
        </p:nvSpPr>
        <p:spPr>
          <a:xfrm>
            <a:off x="5486791" y="2802136"/>
            <a:ext cx="3002090" cy="157163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知识密集任务上测试时扩展不奏效，成本上升 10 至 100 倍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214313" y="4686300"/>
            <a:ext cx="8976836" cy="128588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675" i="1" dirty="0">
                <a:solidFill>
                  <a:srgbClr val="898989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资料来源：博客园、CSDN DevPress、钛媒体。</a:t>
            </a:r>
            <a:endParaRPr lang="en-US" sz="675" dirty="0"/>
          </a:p>
        </p:txBody>
      </p:sp>
      <p:sp>
        <p:nvSpPr>
          <p:cNvPr id="65535" name="wm:hwcld:2026-10-23T02:30:37:30c7c9cf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</p:spPr>
      </p:sp>
      <p:sp>
        <p:nvSpPr>
          <p:cNvPr id="3" name="Shape 1"/>
          <p:cNvSpPr/>
          <p:nvPr/>
        </p:nvSpPr>
        <p:spPr>
          <a:xfrm>
            <a:off x="214313" y="772864"/>
            <a:ext cx="8715375" cy="392906"/>
          </a:xfrm>
          <a:prstGeom prst="rect">
            <a:avLst/>
          </a:prstGeom>
          <a:solidFill>
            <a:srgbClr val="FFF1EF"/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4313" y="772864"/>
            <a:ext cx="8715375" cy="39290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14313" y="1279624"/>
            <a:ext cx="2093119" cy="800100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421731" y="1279624"/>
            <a:ext cx="2093119" cy="800100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629150" y="1279624"/>
            <a:ext cx="2093119" cy="800100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836569" y="1279624"/>
            <a:ext cx="2093119" cy="800100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14313" y="2193578"/>
            <a:ext cx="8715375" cy="407194"/>
          </a:xfrm>
          <a:prstGeom prst="rect">
            <a:avLst/>
          </a:prstGeom>
          <a:solidFill>
            <a:srgbClr val="F5F5F5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14313" y="2712839"/>
            <a:ext cx="4300538" cy="335756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29150" y="2712839"/>
            <a:ext cx="4300538" cy="335756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14313" y="3159323"/>
            <a:ext cx="8715375" cy="1414463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graphicFrame>
        <p:nvGraphicFramePr>
          <p:cNvPr id="22" name="Table 0"/>
          <p:cNvGraphicFramePr>
            <a:graphicFrameLocks noGrp="1"/>
          </p:cNvGraphicFramePr>
          <p:nvPr/>
        </p:nvGraphicFramePr>
        <p:xfrm>
          <a:off x="221456" y="3168253"/>
          <a:ext cx="8701088" cy="1407320"/>
        </p:xfrm>
        <a:graphic>
          <a:graphicData uri="http://schemas.openxmlformats.org/drawingml/2006/table">
            <a:tbl>
              <a:tblPr/>
              <a:tblGrid>
                <a:gridCol w="2614501"/>
                <a:gridCol w="3733726"/>
                <a:gridCol w="2352861"/>
              </a:tblGrid>
              <a:tr h="232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指标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数值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时间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35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企业日均调用量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10.2 万亿 token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2025H1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企业日均调用量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37 万亿 token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2025H2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调用量增幅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263%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2025H1 至 H2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中国智能算力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188 万 PFLOPS（FP16）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2026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2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智能体市场规模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135.3 亿元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757"/>
                          </a:solidFill>
                          <a:latin typeface="WenYuan Sans SC" panose="020B0200000000000000" pitchFamily="34" charset="-122"/>
                          <a:ea typeface="WenYuan Sans SC" panose="020B0200000000000000" pitchFamily="34" charset="-122"/>
                          <a:cs typeface="WenYuan Sans SC" panose="020B0200000000000000" pitchFamily="34" charset="-120"/>
                        </a:rPr>
                        <a:t>2026</a:t>
                      </a:r>
                      <a:endParaRPr lang="en-US" sz="900" dirty="0">
                        <a:latin typeface="WenYuan Sans SC" panose="020B0200000000000000" pitchFamily="34" charset="-122"/>
                        <a:ea typeface="WenYuan Sans SC" panose="020B0200000000000000" pitchFamily="34" charset="-122"/>
                        <a:cs typeface="WenYuan Sans SC" panose="020B0200000000000000" pitchFamily="34" charset="-122"/>
                      </a:endParaRPr>
                    </a:p>
                  </a:txBody>
                  <a:tcPr marL="97155" marR="97155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 10"/>
          <p:cNvSpPr/>
          <p:nvPr/>
        </p:nvSpPr>
        <p:spPr>
          <a:xfrm>
            <a:off x="214313" y="329505"/>
            <a:ext cx="8976836" cy="328613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2080" dirty="0">
                <a:solidFill>
                  <a:srgbClr val="000000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趋势展望：从对话模型到通用智能体的演进方向</a:t>
            </a:r>
            <a:endParaRPr lang="en-US" sz="2080" dirty="0"/>
          </a:p>
        </p:txBody>
      </p:sp>
      <p:sp>
        <p:nvSpPr>
          <p:cNvPr id="15" name="Text 11"/>
          <p:cNvSpPr/>
          <p:nvPr/>
        </p:nvSpPr>
        <p:spPr>
          <a:xfrm>
            <a:off x="400050" y="858589"/>
            <a:ext cx="8638365" cy="221456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070" b="1" dirty="0">
                <a:solidFill>
                  <a:srgbClr val="000000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中国企业级大模型日均调用量从 2025 年上半年的 10.2 万亿 token 增至下半年的 37 万亿，增幅 263%。</a:t>
            </a:r>
            <a:endParaRPr lang="en-US" sz="1070" dirty="0"/>
          </a:p>
        </p:txBody>
      </p:sp>
      <p:sp>
        <p:nvSpPr>
          <p:cNvPr id="16" name="Text 12"/>
          <p:cNvSpPr/>
          <p:nvPr/>
        </p:nvSpPr>
        <p:spPr>
          <a:xfrm>
            <a:off x="335421" y="1372493"/>
            <a:ext cx="963906" cy="42862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D33941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263%</a:t>
            </a:r>
            <a:endParaRPr lang="en-US" sz="2700" dirty="0"/>
          </a:p>
        </p:txBody>
      </p:sp>
      <p:sp>
        <p:nvSpPr>
          <p:cNvPr id="17" name="Text 13"/>
          <p:cNvSpPr/>
          <p:nvPr/>
        </p:nvSpPr>
        <p:spPr>
          <a:xfrm>
            <a:off x="335756" y="1829693"/>
            <a:ext cx="1905738" cy="157163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企业调用量增幅（2025）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2541556" y="1372493"/>
            <a:ext cx="596003" cy="42862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D33941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188</a:t>
            </a:r>
            <a:endParaRPr lang="en-US" sz="2700" dirty="0"/>
          </a:p>
        </p:txBody>
      </p:sp>
      <p:sp>
        <p:nvSpPr>
          <p:cNvPr id="19" name="Text 15"/>
          <p:cNvSpPr/>
          <p:nvPr/>
        </p:nvSpPr>
        <p:spPr>
          <a:xfrm>
            <a:off x="3146878" y="1658243"/>
            <a:ext cx="257532" cy="14287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898989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万PF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2543175" y="1829693"/>
            <a:ext cx="1905738" cy="157163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中国智能算力（FP16）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4751319" y="1372493"/>
            <a:ext cx="890326" cy="42862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D33941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135.3</a:t>
            </a:r>
            <a:endParaRPr lang="en-US" sz="2700" dirty="0"/>
          </a:p>
        </p:txBody>
      </p:sp>
      <p:sp>
        <p:nvSpPr>
          <p:cNvPr id="13" name="Text 18"/>
          <p:cNvSpPr/>
          <p:nvPr/>
        </p:nvSpPr>
        <p:spPr>
          <a:xfrm>
            <a:off x="5645014" y="1658243"/>
            <a:ext cx="235458" cy="14287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898989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亿元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4750594" y="1829693"/>
            <a:ext cx="1905738" cy="157163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中国智能体市场规模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6957622" y="1372493"/>
            <a:ext cx="1081635" cy="428625"/>
          </a:xfrm>
          <a:prstGeom prst="rect">
            <a:avLst/>
          </a:prstGeom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D33941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29.3%</a:t>
            </a:r>
            <a:endParaRPr lang="en-US" sz="2700" dirty="0"/>
          </a:p>
        </p:txBody>
      </p:sp>
      <p:sp>
        <p:nvSpPr>
          <p:cNvPr id="25" name="Text 21"/>
          <p:cNvSpPr/>
          <p:nvPr/>
        </p:nvSpPr>
        <p:spPr>
          <a:xfrm>
            <a:off x="6958013" y="1829693"/>
            <a:ext cx="1905738" cy="157163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生成式 AI 市场 CAGR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364331" y="2286446"/>
            <a:ext cx="8667798" cy="221456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金融、政务、制造行业渗透率分别为 68%、61%、53%；能力度量正转向任务时长地平线。</a:t>
            </a:r>
            <a:endParaRPr lang="en-US" sz="1070" dirty="0"/>
          </a:p>
        </p:txBody>
      </p:sp>
      <p:sp>
        <p:nvSpPr>
          <p:cNvPr id="27" name="Text 23"/>
          <p:cNvSpPr/>
          <p:nvPr/>
        </p:nvSpPr>
        <p:spPr>
          <a:xfrm>
            <a:off x="335756" y="2777133"/>
            <a:ext cx="559213" cy="207169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070" b="1" dirty="0">
                <a:solidFill>
                  <a:srgbClr val="000000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行业渗透</a:t>
            </a:r>
            <a:endParaRPr lang="en-US" sz="1070" dirty="0"/>
          </a:p>
        </p:txBody>
      </p:sp>
      <p:sp>
        <p:nvSpPr>
          <p:cNvPr id="28" name="Text 24"/>
          <p:cNvSpPr/>
          <p:nvPr/>
        </p:nvSpPr>
        <p:spPr>
          <a:xfrm>
            <a:off x="934380" y="2802136"/>
            <a:ext cx="1729145" cy="157163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金融 68%、政务 61%、制造 53%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4750594" y="2777133"/>
            <a:ext cx="559213" cy="207169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070" b="1" dirty="0">
                <a:solidFill>
                  <a:srgbClr val="000000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规模基线</a:t>
            </a:r>
            <a:endParaRPr lang="en-US" sz="1070" dirty="0"/>
          </a:p>
        </p:txBody>
      </p:sp>
      <p:sp>
        <p:nvSpPr>
          <p:cNvPr id="30" name="Text 26"/>
          <p:cNvSpPr/>
          <p:nvPr/>
        </p:nvSpPr>
        <p:spPr>
          <a:xfrm>
            <a:off x="5349776" y="2802136"/>
            <a:ext cx="1824799" cy="157163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2025 年底超 8 万家企业部署大模型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214313" y="4686300"/>
            <a:ext cx="8976836" cy="128588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675" i="1" dirty="0">
                <a:solidFill>
                  <a:srgbClr val="898989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资料来源：Fortune Business Insights、博客园、驱动中国、OpenAI 官方。</a:t>
            </a:r>
            <a:endParaRPr lang="en-US" sz="675" dirty="0"/>
          </a:p>
        </p:txBody>
      </p:sp>
      <p:sp>
        <p:nvSpPr>
          <p:cNvPr id="65535" name="wm:hwcld:2026-10-23T02:30:37:30c7c9cf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</p:spPr>
      </p:sp>
      <p:sp>
        <p:nvSpPr>
          <p:cNvPr id="3" name="Shape 1"/>
          <p:cNvSpPr/>
          <p:nvPr/>
        </p:nvSpPr>
        <p:spPr>
          <a:xfrm>
            <a:off x="214313" y="271462"/>
            <a:ext cx="42863" cy="171450"/>
          </a:xfrm>
          <a:prstGeom prst="rect">
            <a:avLst/>
          </a:prstGeom>
          <a:solidFill>
            <a:srgbClr val="D33941"/>
          </a:solidFill>
        </p:spPr>
      </p:sp>
      <p:sp>
        <p:nvSpPr>
          <p:cNvPr id="4" name="Shape 2"/>
          <p:cNvSpPr/>
          <p:nvPr/>
        </p:nvSpPr>
        <p:spPr>
          <a:xfrm>
            <a:off x="214313" y="1160859"/>
            <a:ext cx="71438" cy="628650"/>
          </a:xfrm>
          <a:prstGeom prst="rect">
            <a:avLst/>
          </a:prstGeom>
          <a:solidFill>
            <a:srgbClr val="D33941"/>
          </a:solidFill>
        </p:spPr>
      </p:sp>
      <p:sp>
        <p:nvSpPr>
          <p:cNvPr id="5" name="Shape 3"/>
          <p:cNvSpPr/>
          <p:nvPr/>
        </p:nvSpPr>
        <p:spPr>
          <a:xfrm>
            <a:off x="214312" y="2280977"/>
            <a:ext cx="285750" cy="14288"/>
          </a:xfrm>
          <a:prstGeom prst="rect">
            <a:avLst/>
          </a:prstGeom>
          <a:solidFill>
            <a:srgbClr val="D33941"/>
          </a:solidFill>
        </p:spPr>
      </p:sp>
      <p:sp>
        <p:nvSpPr>
          <p:cNvPr id="6" name="Shape 4"/>
          <p:cNvSpPr/>
          <p:nvPr/>
        </p:nvSpPr>
        <p:spPr>
          <a:xfrm>
            <a:off x="214313" y="3886200"/>
            <a:ext cx="8715375" cy="857250"/>
          </a:xfrm>
          <a:prstGeom prst="rect">
            <a:avLst/>
          </a:prstGeom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4313" y="3886200"/>
            <a:ext cx="8715375" cy="8572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43179" y="253603"/>
            <a:ext cx="1169932" cy="207169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ChatGPT 发展历程</a:t>
            </a:r>
            <a:endParaRPr lang="en-US" sz="1070" dirty="0"/>
          </a:p>
        </p:txBody>
      </p:sp>
      <p:sp>
        <p:nvSpPr>
          <p:cNvPr id="9" name="Text 6"/>
          <p:cNvSpPr/>
          <p:nvPr/>
        </p:nvSpPr>
        <p:spPr>
          <a:xfrm>
            <a:off x="7595146" y="282178"/>
            <a:ext cx="618077" cy="150019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790" dirty="0">
                <a:solidFill>
                  <a:srgbClr val="898989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技术演进专题</a:t>
            </a:r>
            <a:endParaRPr lang="en-US" sz="790" dirty="0"/>
          </a:p>
        </p:txBody>
      </p:sp>
      <p:sp>
        <p:nvSpPr>
          <p:cNvPr id="10" name="Text 7"/>
          <p:cNvSpPr/>
          <p:nvPr/>
        </p:nvSpPr>
        <p:spPr>
          <a:xfrm>
            <a:off x="8251534" y="282178"/>
            <a:ext cx="29432" cy="150019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790" dirty="0">
                <a:solidFill>
                  <a:srgbClr val="B5B5B5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|</a:t>
            </a:r>
            <a:endParaRPr lang="en-US" sz="790" dirty="0"/>
          </a:p>
        </p:txBody>
      </p:sp>
      <p:sp>
        <p:nvSpPr>
          <p:cNvPr id="11" name="Text 8"/>
          <p:cNvSpPr/>
          <p:nvPr/>
        </p:nvSpPr>
        <p:spPr>
          <a:xfrm>
            <a:off x="8336589" y="282178"/>
            <a:ext cx="610719" cy="150019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790" dirty="0">
                <a:solidFill>
                  <a:srgbClr val="898989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2026 年 10 月</a:t>
            </a:r>
            <a:endParaRPr lang="en-US" sz="790" dirty="0"/>
          </a:p>
        </p:txBody>
      </p:sp>
      <p:sp>
        <p:nvSpPr>
          <p:cNvPr id="12" name="Text 9"/>
          <p:cNvSpPr/>
          <p:nvPr/>
        </p:nvSpPr>
        <p:spPr>
          <a:xfrm>
            <a:off x="457200" y="1010841"/>
            <a:ext cx="3826193" cy="928688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D33941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总结与展望</a:t>
            </a:r>
            <a:endParaRPr lang="en-US" sz="5400" dirty="0"/>
          </a:p>
        </p:txBody>
      </p:sp>
      <p:sp>
        <p:nvSpPr>
          <p:cNvPr id="13" name="Text 10"/>
          <p:cNvSpPr/>
          <p:nvPr/>
        </p:nvSpPr>
        <p:spPr>
          <a:xfrm>
            <a:off x="586067" y="2138102"/>
            <a:ext cx="5687782" cy="300038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000000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从 Transformer 技术原点到大模型产业化的关键节点回顾</a:t>
            </a:r>
            <a:endParaRPr lang="en-US" sz="1575" dirty="0"/>
          </a:p>
        </p:txBody>
      </p:sp>
      <p:sp>
        <p:nvSpPr>
          <p:cNvPr id="14" name="Text 11"/>
          <p:cNvSpPr/>
          <p:nvPr/>
        </p:nvSpPr>
        <p:spPr>
          <a:xfrm>
            <a:off x="214313" y="2723890"/>
            <a:ext cx="2111764" cy="257175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D33941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1750亿参数</a:t>
            </a:r>
            <a:endParaRPr lang="en-US" sz="2025" dirty="0"/>
          </a:p>
        </p:txBody>
      </p:sp>
      <p:sp>
        <p:nvSpPr>
          <p:cNvPr id="15" name="Text 12"/>
          <p:cNvSpPr/>
          <p:nvPr/>
        </p:nvSpPr>
        <p:spPr>
          <a:xfrm>
            <a:off x="214313" y="3038215"/>
            <a:ext cx="2111764" cy="150019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79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GPT-3 参数规模</a:t>
            </a:r>
            <a:endParaRPr lang="en-US" sz="790" dirty="0"/>
          </a:p>
        </p:txBody>
      </p:sp>
      <p:sp>
        <p:nvSpPr>
          <p:cNvPr id="16" name="Text 13"/>
          <p:cNvSpPr/>
          <p:nvPr/>
        </p:nvSpPr>
        <p:spPr>
          <a:xfrm>
            <a:off x="214313" y="3245383"/>
            <a:ext cx="2111764" cy="128588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675" dirty="0">
                <a:solidFill>
                  <a:srgbClr val="898989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2020 年发布，上下文学习涌现</a:t>
            </a:r>
            <a:endParaRPr lang="en-US" sz="675" dirty="0"/>
          </a:p>
        </p:txBody>
      </p:sp>
      <p:sp>
        <p:nvSpPr>
          <p:cNvPr id="17" name="Text 14"/>
          <p:cNvSpPr/>
          <p:nvPr/>
        </p:nvSpPr>
        <p:spPr>
          <a:xfrm>
            <a:off x="2436019" y="2723890"/>
            <a:ext cx="2111764" cy="257175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D33941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12亿周活</a:t>
            </a:r>
            <a:endParaRPr lang="en-US" sz="2025" dirty="0"/>
          </a:p>
        </p:txBody>
      </p:sp>
      <p:sp>
        <p:nvSpPr>
          <p:cNvPr id="18" name="Text 15"/>
          <p:cNvSpPr/>
          <p:nvPr/>
        </p:nvSpPr>
        <p:spPr>
          <a:xfrm>
            <a:off x="2436019" y="3038215"/>
            <a:ext cx="2111764" cy="150019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79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ChatGPT 周活跃用户</a:t>
            </a:r>
            <a:endParaRPr lang="en-US" sz="790" dirty="0"/>
          </a:p>
        </p:txBody>
      </p:sp>
      <p:sp>
        <p:nvSpPr>
          <p:cNvPr id="19" name="Text 16"/>
          <p:cNvSpPr/>
          <p:nvPr/>
        </p:nvSpPr>
        <p:spPr>
          <a:xfrm>
            <a:off x="2436019" y="3245383"/>
            <a:ext cx="2111764" cy="128588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675" dirty="0">
                <a:solidFill>
                  <a:srgbClr val="898989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2026 年 9 月披露</a:t>
            </a:r>
            <a:endParaRPr lang="en-US" sz="675" dirty="0"/>
          </a:p>
        </p:txBody>
      </p:sp>
      <p:sp>
        <p:nvSpPr>
          <p:cNvPr id="20" name="Text 17"/>
          <p:cNvSpPr/>
          <p:nvPr/>
        </p:nvSpPr>
        <p:spPr>
          <a:xfrm>
            <a:off x="4657725" y="2723890"/>
            <a:ext cx="2111764" cy="257175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D33941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99.7%</a:t>
            </a:r>
            <a:endParaRPr lang="en-US" sz="2025" dirty="0"/>
          </a:p>
        </p:txBody>
      </p:sp>
      <p:sp>
        <p:nvSpPr>
          <p:cNvPr id="21" name="Text 18"/>
          <p:cNvSpPr/>
          <p:nvPr/>
        </p:nvSpPr>
        <p:spPr>
          <a:xfrm>
            <a:off x="4657725" y="3038215"/>
            <a:ext cx="2111764" cy="150019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79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单位 token 成本降幅</a:t>
            </a:r>
            <a:endParaRPr lang="en-US" sz="790" dirty="0"/>
          </a:p>
        </p:txBody>
      </p:sp>
      <p:sp>
        <p:nvSpPr>
          <p:cNvPr id="22" name="Text 19"/>
          <p:cNvSpPr/>
          <p:nvPr/>
        </p:nvSpPr>
        <p:spPr>
          <a:xfrm>
            <a:off x="4657725" y="3245383"/>
            <a:ext cx="2111764" cy="128588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675" dirty="0">
                <a:solidFill>
                  <a:srgbClr val="898989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GPT-4 到 GPT-5 nano</a:t>
            </a:r>
            <a:endParaRPr lang="en-US" sz="675" dirty="0"/>
          </a:p>
        </p:txBody>
      </p:sp>
      <p:sp>
        <p:nvSpPr>
          <p:cNvPr id="23" name="Text 20"/>
          <p:cNvSpPr/>
          <p:nvPr/>
        </p:nvSpPr>
        <p:spPr>
          <a:xfrm>
            <a:off x="6879431" y="2723890"/>
            <a:ext cx="2111764" cy="257175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D33941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29.3%</a:t>
            </a:r>
            <a:endParaRPr lang="en-US" sz="2025" dirty="0"/>
          </a:p>
        </p:txBody>
      </p:sp>
      <p:sp>
        <p:nvSpPr>
          <p:cNvPr id="24" name="Text 21"/>
          <p:cNvSpPr/>
          <p:nvPr/>
        </p:nvSpPr>
        <p:spPr>
          <a:xfrm>
            <a:off x="6879431" y="3038215"/>
            <a:ext cx="2111764" cy="150019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79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生成式 AI 市场复合增速</a:t>
            </a:r>
            <a:endParaRPr lang="en-US" sz="790" dirty="0"/>
          </a:p>
        </p:txBody>
      </p:sp>
      <p:sp>
        <p:nvSpPr>
          <p:cNvPr id="25" name="Text 22"/>
          <p:cNvSpPr/>
          <p:nvPr/>
        </p:nvSpPr>
        <p:spPr>
          <a:xfrm>
            <a:off x="6879431" y="3245383"/>
            <a:ext cx="2111764" cy="128588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675" dirty="0">
                <a:solidFill>
                  <a:srgbClr val="898989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2026 至 2034 年</a:t>
            </a:r>
            <a:endParaRPr lang="en-US" sz="675" dirty="0"/>
          </a:p>
        </p:txBody>
      </p:sp>
      <p:sp>
        <p:nvSpPr>
          <p:cNvPr id="26" name="Text 23"/>
          <p:cNvSpPr/>
          <p:nvPr/>
        </p:nvSpPr>
        <p:spPr>
          <a:xfrm>
            <a:off x="215485" y="4036219"/>
            <a:ext cx="2832854" cy="150019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790" dirty="0">
                <a:solidFill>
                  <a:srgbClr val="898989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REPORTER</a:t>
            </a:r>
            <a:endParaRPr lang="en-US" sz="790" dirty="0"/>
          </a:p>
        </p:txBody>
      </p:sp>
      <p:sp>
        <p:nvSpPr>
          <p:cNvPr id="27" name="Text 24"/>
          <p:cNvSpPr/>
          <p:nvPr/>
        </p:nvSpPr>
        <p:spPr>
          <a:xfrm>
            <a:off x="215485" y="4243388"/>
            <a:ext cx="2832854" cy="257175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00000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技术演进研究组</a:t>
            </a:r>
            <a:endParaRPr lang="en-US" sz="1350" dirty="0"/>
          </a:p>
        </p:txBody>
      </p:sp>
      <p:sp>
        <p:nvSpPr>
          <p:cNvPr id="28" name="Text 25"/>
          <p:cNvSpPr/>
          <p:nvPr/>
        </p:nvSpPr>
        <p:spPr>
          <a:xfrm>
            <a:off x="215485" y="4557713"/>
            <a:ext cx="2832854" cy="150019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79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内容整理</a:t>
            </a:r>
            <a:endParaRPr lang="en-US" sz="790" dirty="0"/>
          </a:p>
        </p:txBody>
      </p:sp>
      <p:sp>
        <p:nvSpPr>
          <p:cNvPr id="29" name="Text 26"/>
          <p:cNvSpPr/>
          <p:nvPr/>
        </p:nvSpPr>
        <p:spPr>
          <a:xfrm>
            <a:off x="3196772" y="4036219"/>
            <a:ext cx="2832854" cy="150019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790" dirty="0">
                <a:solidFill>
                  <a:srgbClr val="898989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DEPARTMENT</a:t>
            </a:r>
            <a:endParaRPr lang="en-US" sz="790" dirty="0"/>
          </a:p>
        </p:txBody>
      </p:sp>
      <p:sp>
        <p:nvSpPr>
          <p:cNvPr id="30" name="Text 27"/>
          <p:cNvSpPr/>
          <p:nvPr/>
        </p:nvSpPr>
        <p:spPr>
          <a:xfrm>
            <a:off x="3196772" y="4243388"/>
            <a:ext cx="2832854" cy="257175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00000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技术团队</a:t>
            </a:r>
            <a:endParaRPr lang="en-US" sz="1350" dirty="0"/>
          </a:p>
        </p:txBody>
      </p:sp>
      <p:sp>
        <p:nvSpPr>
          <p:cNvPr id="31" name="Text 28"/>
          <p:cNvSpPr/>
          <p:nvPr/>
        </p:nvSpPr>
        <p:spPr>
          <a:xfrm>
            <a:off x="3196772" y="4557713"/>
            <a:ext cx="2832854" cy="150019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79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内部教学与分享</a:t>
            </a:r>
            <a:endParaRPr lang="en-US" sz="790" dirty="0"/>
          </a:p>
        </p:txBody>
      </p:sp>
      <p:sp>
        <p:nvSpPr>
          <p:cNvPr id="32" name="Text 29"/>
          <p:cNvSpPr/>
          <p:nvPr/>
        </p:nvSpPr>
        <p:spPr>
          <a:xfrm>
            <a:off x="6178116" y="4036219"/>
            <a:ext cx="2832854" cy="150019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790" dirty="0">
                <a:solidFill>
                  <a:srgbClr val="898989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DATE</a:t>
            </a:r>
            <a:endParaRPr lang="en-US" sz="790" dirty="0"/>
          </a:p>
        </p:txBody>
      </p:sp>
      <p:sp>
        <p:nvSpPr>
          <p:cNvPr id="33" name="Text 30"/>
          <p:cNvSpPr/>
          <p:nvPr/>
        </p:nvSpPr>
        <p:spPr>
          <a:xfrm>
            <a:off x="6178116" y="4243388"/>
            <a:ext cx="2832854" cy="257175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00000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2026-10</a:t>
            </a:r>
            <a:endParaRPr lang="en-US" sz="1350" dirty="0"/>
          </a:p>
        </p:txBody>
      </p:sp>
      <p:sp>
        <p:nvSpPr>
          <p:cNvPr id="34" name="Text 31"/>
          <p:cNvSpPr/>
          <p:nvPr/>
        </p:nvSpPr>
        <p:spPr>
          <a:xfrm>
            <a:off x="6178116" y="4557713"/>
            <a:ext cx="2832854" cy="150019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790" dirty="0">
                <a:solidFill>
                  <a:srgbClr val="555757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汇报时间</a:t>
            </a:r>
            <a:endParaRPr lang="en-US" sz="790" dirty="0"/>
          </a:p>
        </p:txBody>
      </p:sp>
      <p:sp>
        <p:nvSpPr>
          <p:cNvPr id="35" name="Text 32"/>
          <p:cNvSpPr/>
          <p:nvPr/>
        </p:nvSpPr>
        <p:spPr>
          <a:xfrm>
            <a:off x="213252" y="4772025"/>
            <a:ext cx="2266283" cy="128588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675" i="1" dirty="0">
                <a:solidFill>
                  <a:srgbClr val="898989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资料来源：OpenAI 官方、西藏网信办、腾讯云等公开资料</a:t>
            </a:r>
            <a:endParaRPr lang="en-US" sz="675" dirty="0"/>
          </a:p>
        </p:txBody>
      </p:sp>
      <p:sp>
        <p:nvSpPr>
          <p:cNvPr id="36" name="Text 33"/>
          <p:cNvSpPr/>
          <p:nvPr/>
        </p:nvSpPr>
        <p:spPr>
          <a:xfrm>
            <a:off x="7986713" y="4772025"/>
            <a:ext cx="971264" cy="128588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675" i="1" dirty="0">
                <a:solidFill>
                  <a:srgbClr val="898989"/>
                </a:solidFill>
                <a:latin typeface="WenYuan Sans SC" panose="020B0200000000000000" pitchFamily="34" charset="-122"/>
                <a:ea typeface="WenYuan Sans SC" panose="020B0200000000000000" pitchFamily="34" charset="-122"/>
                <a:cs typeface="WenYuan Sans SC" panose="020B0200000000000000" pitchFamily="34" charset="-120"/>
              </a:rPr>
              <a:t>仅供内部教学与分享使用</a:t>
            </a:r>
            <a:endParaRPr lang="en-US" sz="675" dirty="0"/>
          </a:p>
        </p:txBody>
      </p:sp>
      <p:sp>
        <p:nvSpPr>
          <p:cNvPr id="65535" name="wm:hwcld:2026-10-23T02:30:37:30c7c9cf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8268</Words>
  <Application>WPS 演示</Application>
  <PresentationFormat>On-screen Show (16:9)</PresentationFormat>
  <Paragraphs>1630</Paragraphs>
  <Slides>22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2" baseType="lpstr">
      <vt:lpstr>Arial</vt:lpstr>
      <vt:lpstr>宋体</vt:lpstr>
      <vt:lpstr>Wingdings</vt:lpstr>
      <vt:lpstr>WenYuan Sans SC</vt:lpstr>
      <vt:lpstr>WenYuan Sans SC</vt:lpstr>
      <vt:lpstr>Calibri</vt:lpstr>
      <vt:lpstr>微软雅黑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cp:keywords>AI生成</cp:keywords>
  <dc:description>AI Generated</dc:description>
  <dc:subject>PptxGenJS Presentation</dc:subject>
  <cp:lastModifiedBy>曹尚轩</cp:lastModifiedBy>
  <cp:revision>2</cp:revision>
  <dcterms:created xsi:type="dcterms:W3CDTF">2026-10-23T02:31:00Z</dcterms:created>
  <dcterms:modified xsi:type="dcterms:W3CDTF">2026-10-23T02:42:42Z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2EBA905F5E3D40029215FB34D8B748BD_12</vt:lpwstr>
  </property>
  <property fmtid="{D5CDD505-2E9C-101B-9397-08002B2CF9AE}" pid="3" name="KSOProductBuildVer">
    <vt:lpwstr>2052-12.1.0.28505</vt:lpwstr>
  </property>
</Properties>
</file>